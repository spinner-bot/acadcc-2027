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这是挑战杯"人工智能赋能下的财务凭证核验"项目的前期调研汇报。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本报告围绕 WHY、WHAT、HOW 三个层次展开，回答项目为什么必须做、要回答哪些核心问题、以及前期调研怎么落地。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所有数据均标注来源与可信度，核心命题是区分"技术可行"与"企业真的需要"。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整份调研分四章。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WHY 论证为什么要做，WHAT 拆解七个必须回答的问题，HOW 说明调研怎么落地，最后明确四项交付物。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进入第一章 WHY。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本章要回答项目立项的根本问题：人工核验的痛点是否真实存在，企业是否真的愿意为解决它付费。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本章的核心逻辑是区分技术可行性与真实市场需求。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问题1验证痛点真实性与代价，问题2验证需求强度，问题3强调早期验证的意义。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痛点一：人工核验极其耗时。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AP人员57%的时间用于手动录入，63%的团队每周光处理发票就要超过10小时，单张发票手动处理需8到15分钟。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这说明核验工作确实占据了财务人员过半工时。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痛点二：成本高且差距大。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三家权威机构数据一致指向手动处理单张发票成本在10到22美元区间，而最佳实践企业可压到2美元上下。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企业间相差近一个数量级，说明流程优化空间巨大。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使用成本数据时必须注意口径。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APQC是5846家组织的中位数6美元，Ardent是204人的调查均值9.84美元，两者不能直接比较。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项目收益要用"凭证量×单张成本"测算，且原型阶段要自己实测自动化后的真实成本，不能直接拿行业差额当收益。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痛点三：错误率高且纠错昂贵。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手动应付流程错误率高达12%到18%，而人工录入环节错误率1%到3%。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关键在于单次纠错成本是正常处理的5到10倍，错误会成倍放大企业代价。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痛点四：舞弊与重复付款造成直接资金损失。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76%组织经历过支付欺诈，BEC是主要途径；重复错误付款占企业总支出0.8%到2%。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但要清醒：这并不等于所有欺诈都能靠核验发票字段发现，项目边界要清楚。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需求强度信号一：行业意愿持续上升。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认为AI可大量应用的比例三年从65%升到71%，人机协同更是从58%跃升到85%。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最关键的转折是"AI取代人类专家"的担忧从25.7%崩到3.9%，行业共识转向人机协同——这正是我们这类辅助核验工具的定位。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需求强度信号二：市场远未饱和。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实现全面智能化的企业只有10.87%，而落地卡在系统适配、数据孤岛、跨部门协同和人才四大瓶颈上。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这正是轻量化、易部署工具的机会窗口。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需求强度信号三：场景空白。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大模型财务应用排前三的是数据问答、知识库问答和数字员工。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凭证核验夹在费用报销审核和会计核算优化之间，目前专门做这件事的AI产品很少，是明确的差异化切入点。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需求强度信号四：用户已被教育。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过半财会人员日常就在用生成式AI，接受度不是障碍。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但42%担心数据质量、72%自认为技能不足，说明行业在自动化到智能代理的过渡期，简单、可验证的工具更受欢迎。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进入第二章 WHAT。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本章把模糊的"痛点"拆成七个可调研、可验证的具体问题。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七个问题构成完整的需求验证闭环。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从用户是谁、问题在哪、现状如何、成本风险、付费意愿，到正反证据，逐次展开。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问题一：谁在用、谁买单。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日常干活的是一线会计和稽核岗，拍板的是财务总监和CFO，他们关注点完全不同。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特别注意93%的决策者担心"无法验证的AI"，所以产品必须把可解释、可追溯作为核心价值。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问题二：问题出现在流程哪里。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核验卡在报销提交之后、入账之前这一段。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中交华中年处理200万笔凭证、省成本超千万，华润人效提升40%，证明智能核验确实能带来量级提升，但这两家都是大型共享中心。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核验工作不是均匀分布的。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报销高峰、季末和年末审计前凭证量会激增，而中小企业凭证零散、手工占比最高。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最容易出错的是增值税发票真伪、行程单时间金额匹配、入库单与合同订单的数量金额交叉核对。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问题三：现在大家怎么处理。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最原始的是纯人工，肉眼核对加国税平台查验，单张10到22美元。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规模大的企业外包给共享中心，但外包并没有解决标准不统一和业务凭证交叉核验问题，共享中心自己也在用AI提效。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国内竞品第一组是金蝶。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发票云做收票，OCR加20多项校验加三单匹配，但主要聚焦发票，对合同入库单等业务凭证交叉核验有限。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星瀚是大型集团共享方案，中小企业用不起。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用友BIP是全栈式大系统。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覆盖财务会计到司库预算全模块，2025年还发布了六个AI原生助理。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但同样面向中大型企业，核验功能嵌在大系统里，中小企业既用不起也用不动，缺一个独立轻量的工具。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国际竞品要按能力和边界分析。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SAP、Oracle、Tipalti这些大产品已经覆盖了PO匹配、发票提取等长流程。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我们不能把"能识别发票"当创新，差异化要放在多类型凭证关联、异常解释和轻量部署上。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把痛点逐一对应到产品机会，并诚实标注证据状态。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成本和欺诈有行业证据，但节约幅度、检测效果要自己测；跨文档匹配、审计追溯、中小企业付费都还是假设，需要访谈和竞品测试验证。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三种现有方案对比下来，缺口很清楚。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纯人工成本高效率低错误高；商用软件贵、只管发票；外包量不经济。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三方都没解决"业务凭证交叉核验"和"中小企业轻量可用"，这就是我们的三个创新点。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问题四：现有方案多少钱。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人工单张10到22美元，还要叠加5到10倍的纠错成本。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而商用软件年费数十万到数百万，还要IT团队部署，中小企业根本负担不起——这就是轻量化产品的价格空间。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问题五：不解决的代价有多大。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直接风险是假发票补税加0.5到5倍罚款，严重的追刑责；重复付款按年支出1亿算一年就是80万到200万。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间接成本还有工时浪费和审计追溯困难，后者往往被低估。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政策大方向是电子发票和数字化报告。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欧盟ViDA从2030年起要求跨境B2B数字化报告，英国2029年强制电子发票。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但要分清：电子发票只是把发票变结构化，智能核验要解决数据一致性、交易匹配和可追溯，两者不能划等号。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问题六：用户愿不愿意试。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意愿面很乐观，七成以上认可AI。但顾虑也很明确，而且逐年上升——数据问题、数据安全、责任和合规。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93%的人担心无法验证的AI输出。所以产品必须做到数据不出域、结果可追溯、有人工复核。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问题七：正反证据对照。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七条支持证据指向痛点真实、需求在涨。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但四条反证必须正面回答：已有大厂产品怎么办、数据安全怎么保、格式不统一准确率怎么办、人员不会用怎么办。这些就是后续产品设计要回答的问题。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进入第三章 HOW。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本章说明前期调研具体怎么落地：用哪几种方式、信源怎么选、检索有什么纪律。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调研四条腿走路。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访谈找高校导师、企业财务和事务所做定性深挖；问卷把感受量化成指标；公开数据已经收集了主要行业报告；反证检索专门找反面证据避免自说自话。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信源分五类，优先级最高的是行业协会调查和监管公告。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税务处罚案例、上市公司年报内控章节、招聘信息是接下来要补的。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检索关键词和优先信息源作为下一步的工作清单。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进入第四章交付物。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每条交付物都按"内容—来源—日期—可信度"格式整理。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交付物一是需求证据清单。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八条核心证据全部标注来源、日期和可信度，全部来自权威机构，可信度均为高。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这是后续论证最硬的底牌。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交付物二是三类角色画像。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使用者要省时间、怕被替代；购买者要降本增效、怕投资回报；决策者要内控合规、怕数据安全和责任。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产品沟通要同时打动这三层人。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交付物三是成本结构测算。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以一年处理一万张发票的企业算，光处理成本就约108万人民币，还没算错误成本和风险成本。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再叠加重复付款和税务罚款，以及大型系统数十万到数百万的年费，痛点的经济账非常清楚。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交付物四是诚实的风险清单。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已有大厂产品为什么没覆盖我们的目标客户，要解释清楚。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同时要承认三类不确定场景和三类风险，这些是项目必须正面应对的。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附录列出全部资料来源和可信度评级标准。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核心证据都来自高可信度来源：官方年报、权威行业报告和官方产品文档。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企业公开案例为中可信度，自媒体文章慎用。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133600"/>
            <a:ext cx="609600" cy="50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23368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挑战杯 · 前期调研报告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8956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人工智能赋能下的财务凭证核验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4826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立项依据 · 七大核心问题 · 调研实操方案 · 交付物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61722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核心命题：能做出 AI 识别凭证 ≠ 企业财务真的需要这套系统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112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3208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· 调研主线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939165" y="17653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802636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2392045" y="18669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WHY · 为什么我们必须做本次调研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2331085" y="214122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项目立项依据：痛点是否真实、需求强度是否足够、早期验证为何重要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939165" y="28194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802636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419350" y="29210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WHAT · 调研需要回答的 7 大核心问题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2331085" y="320929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谁遇到问题 · 出现在哪 · 现在怎么处理 · 成本局限 · 损失风险 · 付费意愿 · 正反证据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939165" y="3873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802636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2463165" y="39751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HOW · 前期调研实操方案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419350" y="4255135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种调研方式 · 信息来源 · 检索纪律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939165" y="49276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802636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463165" y="4967605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2419350" y="530098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项交付物 · 资料索引 · 可信度评级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540000"/>
            <a:ext cx="609600" cy="50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2743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2004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WHY · 项目立项依据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39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为什么我们必须做本次调研——痛点是否真实、需求强度够不够、早期验证为何重要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立项依据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6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核心逻辑：能做出 AI 识别凭证 ≠ 企业财务真的需要这套系统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7526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本次调研需要回答 3 个问题：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387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802636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 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30226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财务凭证人工核验的流程，痛点是否真实存在？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如果不解决，企业要付出多大代价？</a:t>
            </a:r>
            <a:endParaRPr lang="en-US" sz="1300" b="0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6249">
            <a:off x="2857500" y="3867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4826000" y="2387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802636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 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826000" y="3022600"/>
            <a:ext cx="3048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这个痛点的需求强度，够不够支撑项目价值？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6249">
            <a:off x="6667500" y="3867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8636000" y="2387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802636">
                    <a:alpha val="8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 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636000" y="3022600"/>
            <a:ext cx="254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早期验证的重要性。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立项依据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9464675" y="220345"/>
            <a:ext cx="2176145" cy="605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257810" y="582295"/>
            <a:ext cx="6156960" cy="737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痛点是否真实（问题1）</a:t>
            </a:r>
            <a:endParaRPr lang="en-US" sz="3200" b="0" i="0" u="none" strike="noStrike">
              <a:solidFill>
                <a:srgbClr val="80263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016000" y="151257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</a:t>
            </a:r>
            <a:r>
              <a:rPr 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人工核验耗时巨大，占据财务人员过半工时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210312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966470" y="270700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57%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422338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应付账款（AP）专业人员平均工作时间，花在手动数据录入上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610100" y="270700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63%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495165" y="422338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 团队每周花超过 10 小时处理发票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88325" y="270700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8–15</a:t>
            </a:r>
            <a:r>
              <a:rPr lang="en-US" sz="20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分钟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094980" y="4223385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手动处理单张发票所需时间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来源：Ardent Partners《Accounts Payable Metrics that Matter in 2025》，2025 年发布 · 可信度：高（权威行业研究机构）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痛点是否真实（问题1）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6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</a:t>
            </a:r>
            <a:r>
              <a:rPr 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人工处理发票成本高昂，且企业间差异巨大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752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来源① APQC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0574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美国生产力与质量中心 · 2025 基准 · 可信度高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4892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$1.77 – $10.89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3327400"/>
            <a:ext cx="317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每张发票处理成本，从最优企业的 $1.77 到最差企业的 $10.89 不等；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 25% 企业约 $1.77/张，后 25% 企业超过 $10/张。</a:t>
            </a:r>
            <a:endParaRPr lang="en-US" sz="1200" b="0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88910">
            <a:off x="2476500" y="3740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4699000" y="17526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来源② Lido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699000" y="2057400"/>
            <a:ext cx="317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《2026 AP Cost Benchmark Report》· 可信度高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699000" y="24892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$10 – $22 / 张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699000" y="3327400"/>
            <a:ext cx="317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手动处理发票成本 $10–$22/张；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半自动 $3–$5/张；全自动 &lt;$1/张。</a:t>
            </a:r>
            <a:endParaRPr lang="en-US" sz="1200" b="0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88910">
            <a:off x="6159500" y="3740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8382000" y="17526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来源③ Ardent Partners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382000" y="20574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《State of ePayables 2025》· 可信度高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382000" y="24892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$12.88 / 张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382000" y="33274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手动处理平均成本 $12.88/张，最佳实践企业仅 $2.36–$2.78/张。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来源：APQC Open Standards Benchmarking（2025）· Lido《2026 AP Cost Benchmark》· Ardent Partners《The State of ePayables 2025》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痛点是否真实（问题1）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成本数据口径不一：调查均值与基准中位数不能直接对比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524000"/>
          <a:ext cx="10160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175000"/>
                <a:gridCol w="2794000"/>
                <a:gridCol w="2540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公开数值 / 发现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可支持的结论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使用限制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APQC 发票处理成本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中位数：6.00 美元/张；页面称样本 5,846 家组织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 处理是可量化的运营流程，适合建立成本基准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需核对数据更新周期与具体行业；并非 AI 节约率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Ardent Partners 2025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平均处理成本常被引用为 9.84 美元/张；研究样本 204 名 AP/财务专业人士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企业间流程成熟度和处理成本存在差异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平均值与 APQC 中位数口径不同；部分完整报告可能需付费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 txBox="1"/>
          <p:nvPr/>
        </p:nvSpPr>
        <p:spPr>
          <a:xfrm>
            <a:off x="1016000" y="36576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说明：Ardent《The State of ePayables 2025》基于 204 名应付账款及财务专业人士，平均每张发票处理成本 9.84 美元；该研究采用调查平均值，APQC 提供基准数据库中位数，样本、统计口径与方法不同，不能直接作一对一比较。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572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270000" y="4724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建议采用的测算式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270000" y="50546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年度流程成本 = 年度处理凭证量 × 单张综合处理成本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270000" y="54102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原型验证时应另行测量自动核验后的单张成本、人工复核比例、处理时长、误报率与漏检率，不能直接将行业基准差额视为本项目可创造的收益。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来源：APQC 发票处理成本基准 · Ardent Partners《The State of ePayables 2025》[2]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痛点是否真实（问题1）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6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③</a:t>
            </a:r>
            <a:r>
              <a:rPr lang="en-US" sz="23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人工核验错误率高，一次纠错成本是正常处理的 5–10 倍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492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2032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12%–18%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327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手动应付账款流程的错误率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032000"/>
            <a:ext cx="338328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1%–3%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33274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人工录入错误率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45212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单次纠错成本 = 正常处理成本的 5–10 倍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53848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错误不是一次性成本——发现后还要返工、追溯、重新审批，纠错代价成倍放大。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来源：IOFM（财务运营管理协会）Benchmarks/Research + Ardent Partners，2025 年 · 可信度：高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痛点是否真实（问题1）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④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支付舞弊与重复付款，给企业造成显著损失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5494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来源① AFP《2026 Payments Fraud and Control Survey》（2026.03）· 可信度高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9304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76%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048000" y="2006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受访组织过去 12 个月经历过支付欺诈（2024 年为 79%）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27178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63%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048000" y="2794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商业邮件妥协（BEC）占比；支票欺诈占 58%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4544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注：AFP《2025 Payments Fraud and Control Survey》另指出 79% 组织在 2024 年遭遇过付款欺诈攻击或未遂，63% 受访者将 BEC 列为主要途径之一，调查超 500 名资金管理专业人士。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84230">
            <a:off x="6235700" y="2927365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7874000" y="15494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来源② APQC 基准数据（2025）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874000" y="19812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0.8% – 2%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874000" y="28194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重复和错误付款通常占企业总支出比例；前 25% 企业约 0.8%，后 25% 企业超过 2%。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521200"/>
            <a:ext cx="10160000" cy="14224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1270000" y="464820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证据边界（不可过度解读）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270000" y="49784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这组数据证明付款流程面临现实风险，但不代表</a:t>
            </a:r>
            <a:r>
              <a:rPr lang="zh-CN" altLang="en-US" sz="11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</a:t>
            </a:r>
            <a:r>
              <a:rPr lang="en-US" sz="11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企业都遭遇虚假发票，也不表示所有欺诈都能通过发票字段核验发现。BEC 可能通过邮件、付款指令或供应商银行账户变更实施。项目若将风险核验纳入产品范围，应研究供应商身份、付款账户变更、异常付款指令和历史交易模式，并明确哪些风险需要外部主数据或人工确认。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来源：AFP《2026 Payments Fraud and Control Survey Report》[3] · APQC 应付账款基准（2025）· 可信度：高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218440" y="248920"/>
            <a:ext cx="9250045" cy="1049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44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需求强度是否足够（问题2）</a:t>
            </a:r>
            <a:endParaRPr lang="en-US" sz="4400"/>
          </a:p>
        </p:txBody>
      </p:sp>
      <p:sp>
        <p:nvSpPr>
          <p:cNvPr id="4" name="AutoShape 4"/>
          <p:cNvSpPr txBox="1"/>
          <p:nvPr/>
        </p:nvSpPr>
        <p:spPr>
          <a:xfrm>
            <a:off x="861695" y="1322705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财务智能化已成行业共识，AI 应用意愿三年持续上升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861699" y="180467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80720" y="2082165"/>
          <a:ext cx="7874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064000"/>
                <a:gridCol w="1270000"/>
                <a:gridCol w="1270000"/>
                <a:gridCol w="1270000"/>
              </a:tblGrid>
              <a:tr h="406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　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认为人工智能技术可以大量应用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65.1%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69.0%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80263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71.1%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认为 AI 将深入影响会计工作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72.6%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75.6%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80263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79.5%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智能信息处理占比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76.3%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76.3%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80263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84.4%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人机一体化协同管理占比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58.3%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81.1%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80263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85.1%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认为 AI 将取代人类专家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25.7%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algn="ctr">
                        <a:defRPr/>
                      </a:p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80263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3.9%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9028430" y="2107565"/>
            <a:ext cx="2032000" cy="33020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9231630" y="2235200"/>
            <a:ext cx="1625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关键判断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9231630" y="2323465"/>
            <a:ext cx="16256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"AI 取代人类专家"从 25.7% 骤降至 3.9%——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行业已从"AI 替代论"转向"人机协同论"，这正是凭证核验工具的定位基础。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来源：上海国家会计学院《2026 年中国企业财务智能化调查报告》，2026 年 · 可信度：高（权威学术机构年度调查）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需求强度是否足够（问题2）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仅 10.87% 企业实现全面智能化，市场空间巨大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90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6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10.87%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327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的企业实现了全面智能化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4318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市场远未饱和——轻量化 AI 工具仍有大量需求空间。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8540">
            <a:off x="3937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223000" y="17780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四大落地瓶颈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223000" y="23368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654800" y="2336800"/>
            <a:ext cx="452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技术系统适配性差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223000" y="29972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654800" y="2997200"/>
            <a:ext cx="452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数据孤岛治理缺位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23000" y="36576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54800" y="3657600"/>
            <a:ext cx="452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跨部门协同困难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223000" y="4318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654800" y="4318000"/>
            <a:ext cx="452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复合型人才稀缺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来源：上海国家会计学院《2026 年中国企业财务智能化调查报告》，2026 年 · 可信度：高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需求强度是否足够（问题2）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③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大模型财务应用已起步，但凭证核验场景仍待深耕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5748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大模型应用场景排名前三：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0320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数据问答 / 智能查询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87600"/>
            <a:ext cx="5156200" cy="177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299200" y="23368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67.71%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28448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财税知识库智能问答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200400"/>
            <a:ext cx="4838700" cy="177800"/>
          </a:xfrm>
          <a:prstGeom prst="roundRect">
            <a:avLst>
              <a:gd name="adj" fmla="val 0"/>
            </a:avLst>
          </a:prstGeom>
          <a:solidFill>
            <a:srgbClr val="80263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5918200" y="31496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63.54%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3657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财务数字员工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013200"/>
            <a:ext cx="4051300" cy="177800"/>
          </a:xfrm>
          <a:prstGeom prst="roundRect">
            <a:avLst>
              <a:gd name="adj" fmla="val 0"/>
            </a:avLst>
          </a:prstGeom>
          <a:solidFill>
            <a:srgbClr val="802636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5130800" y="39624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53.13%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16000" y="45212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其他场景：财务数据分析、会计核算优化、专业财务报告生成、费用报销审核、经营决策支持。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66000" y="2032000"/>
            <a:ext cx="3810000" cy="35052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7620000" y="2260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对本项目的启示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620000" y="2362200"/>
            <a:ext cx="3302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凭证核验属于"费用报销审核"与"会计核算优化"的交叉场景。</a:t>
            </a:r>
            <a:endParaRPr lang="en-US" sz="1100">
              <a:highlight>
                <a:srgbClr val="FFFF00"/>
              </a:highlight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目前专门针对凭证核验的 AI 产品仍较少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——这是一个尚未被充分深耕的切入点。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来源：上海国家会计学院《2026 年中国企业财务智能化调查报告》，2026 年 · 可信度：高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WHY · 需求强度是否足够（问题2）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④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财会人员已在常态化使用生成式 AI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90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80263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&gt;50%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9464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财会人员已常态化使用生成式 AI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572000" y="190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42%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4572000" y="29464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受访者将数据质量问题列为阻碍 AI 落地的首要问题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0" y="190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72%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128000" y="29464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认为自身生成式 AI 技能水平较低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49022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行业仍处于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"自动化"向"智能代理"过渡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的中间阶段——用户既已上手，又对数据质量与自身技能存疑，恰是轻量、可验证工具的机会。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来源：ACCA《中国共享服务领域调研报告》，2025 年 · 可信度：高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540000"/>
            <a:ext cx="609600" cy="50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2743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2004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WHAT · 七大核心问题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39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调研需要回答谁在用、在哪发生、现在怎么处理、成本与风险、付费意愿、以及正反证据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调研总览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调研需要回答的 7 大核心问题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6256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397000" y="16256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谁会遇到这个问题？（区分使用者、决策者）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4892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397000" y="2489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问题出现在哪个流程、发生条件、频率？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33528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397000" y="33528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现在通常如何处理凭证核验？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42164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397000" y="42164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现有方案的成本和局限是什么？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16256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731000" y="1625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问题带来的损失、风险是否显著？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50000" y="24892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731000" y="24892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用户是否愿意尝试新方案？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350000" y="33528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731000" y="33528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支持需求的证据 &amp; 反面证据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WHAT 七大核心问题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1 · 谁遇到问题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1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</a:t>
            </a:r>
            <a:r>
              <a:rPr lang="en-US" altLang="zh-CN" sz="21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1</a:t>
            </a:r>
            <a:r>
              <a:rPr lang="en-US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谁会遇到这个问题：一线使用者与购买决策者并不相同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422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使用者（日常执行）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752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企业应收/应付会计、出纳、财务稽核岗、内审人员——日常审发票、报销单、合同附件。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1422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购买决策者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17526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财务总监、财务经理、企业信息化负责人。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25908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数据支撑：AP 部门是凭证核验核心执行方——一名 AP 人员 57% 时间手动录入、20% 时间审批管理，核验确实集中在一线岗位。（Ardent Partners + IOFM，可信度高）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319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33274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不同角色关心什么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37338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一线会计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省时间、减少重复劳动、降低出错率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4572000" y="37338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财务总监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45720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风控、税务合规、降本增效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128000" y="37338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CFO / 分管副总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1280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内控风险、合规、投入回报比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978400"/>
            <a:ext cx="10160000" cy="9144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1270000" y="5130800"/>
            <a:ext cx="965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93%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的财务专业人士对"无法验证的 AI 洞见"表现出担忧（ACCA）——决策者选 AI 工具时高度重视"可验证性"，这正是本项目核心价值：</a:t>
            </a:r>
            <a:r>
              <a:rPr lang="en-US" sz="12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核验 + 人工可追溯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来源：Ardent Partners + IOFM 行业基准 · 上海国家会计学院报告 + ACCA 调研 · 可信度：高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2 · 流程与案例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1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</a:t>
            </a:r>
            <a:r>
              <a:rPr lang="en-US" altLang="zh-CN" sz="21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</a:t>
            </a:r>
            <a:r>
              <a:rPr lang="zh-CN" altLang="en-US" sz="21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</a:t>
            </a:r>
            <a:r>
              <a:rPr lang="en-US" altLang="zh-CN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核验发生在报销流程中段，两个共享中心案例验证提效空间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716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文档原有流程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51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员工报销提交凭证 → 财务初审 → </a:t>
            </a: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凭证真伪核验（发票查验、要素核对、业务真实性匹配）</a:t>
            </a: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入账归档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227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1016000" y="2438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1 · 中交华中财务共享中心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27432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 年企业公开报道 · 可信度：中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0988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年均处理凭证逾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 万笔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报销流程减少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50%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到账时间从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天缩短至 2 小时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制证准确率近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99%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年均节约人力成本超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 万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6138">
            <a:off x="4521200" y="4006863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6350000" y="2438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2 · 华润置地财务共享中心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27432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 年公开新闻/公告/财报披露 · 可信度：中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350000" y="30988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智能审核上线后，审核耗时减少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68%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月结自动化率达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94%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整体人效提升 </a:t>
            </a: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endParaRPr lang="en-US" sz="1200" b="1" i="0" u="none" strike="noStrike">
              <a:solidFill>
                <a:srgbClr val="26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来源：中交华中财务共享中心公开报道 · 华润置地公开新闻/公告/财报（crland.com.hk / 港交所披露易），2025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2 · 频率与场景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</a:t>
            </a:r>
            <a:r>
              <a:rPr lang="en-US" altLang="zh-CN" sz="22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</a:t>
            </a:r>
            <a:r>
              <a:rPr lang="zh-CN" altLang="en-US" sz="22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</a:t>
            </a:r>
            <a:r>
              <a:rPr lang="en-US" altLang="zh-CN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核验压力有明显波峰，易错凭证集中在三类单据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701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高峰时段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1082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每月报销高峰期、季度末、年末审计前凭证量激增。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1701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中小企业现状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21082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凭证零散，手工核验工作量占比最大。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42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36068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易错凭证类型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411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增值税发票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4470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核验：真伪 + 要素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572000" y="411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行程单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4572000" y="4470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核验：金额 + 时间匹配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28000" y="4114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入库单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128000" y="44704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核验：数量 + 金额与合同/订单匹配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来源：上海国家会计学院报告 + 行业通用实践 · 可信度：高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现有处理方式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问题③</a:t>
            </a:r>
            <a:r>
              <a:rPr lang="en-US" altLang="zh-CN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现状之一：纯人工核对，或外包给财务共享中心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574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 1 · 纯人工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59815" y="2032000"/>
            <a:ext cx="4826000" cy="10744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流程：会计肉眼核对发票信息 → 登录国税平台查验真伪 → 比对报销单和附件</a:t>
            </a:r>
            <a:r>
              <a:rPr lang="en-US"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成本：$10–$22/张，8–15 分钟/张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</a:t>
            </a:r>
            <a:r>
              <a:rPr lang="en-US" sz="1100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错误率：12%–18%</a:t>
            </a:r>
            <a:endParaRPr lang="en-US" sz="1100" b="0" i="0" u="none" strike="noStrike">
              <a:solidFill>
                <a:srgbClr val="3C3C3C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适用：小微企业、凭证量少的企业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8448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方案2：现有商用软件</a:t>
            </a:r>
            <a:r>
              <a:rPr lang="zh-CN" alt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（见竞品</a:t>
            </a:r>
            <a:r>
              <a:rPr lang="zh-CN" alt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分析）</a:t>
            </a:r>
            <a:endParaRPr lang="zh-CN" altLang="en-US" sz="1400" b="1" i="0" u="none" strike="noStrike">
              <a:solidFill>
                <a:srgbClr val="80263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9121">
            <a:off x="4089400" y="3575060"/>
            <a:ext cx="401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350000" y="1574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 3 · 外包（财务共享中心）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19812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流程：企业将审核业务外包给财务共享中心或第三方服务商。案例：中交华中、华润置地（见前文）。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350000" y="2844800"/>
            <a:ext cx="482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局限：外包</a:t>
            </a: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无法解决"核验标准不统一"和"业务凭证交叉核验"的根本问题</a:t>
            </a: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且外包本身也在寻求 AI 工具提升效率。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成本数据见 Ardent / APQC / Lido · 外包案例见中交华中、华润置地公开报道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国内竞品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国内竞品（一）：金蝶发票云 与 金蝶云·星瀚财务共享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97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金蝶发票云（收票服务）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764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来源：金蝶官网产品页 · 可信度：高（官方文档）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1955800"/>
            <a:ext cx="4889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OCR 识别：支持 98% 发票类型，一次扫描多张自动切分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合规校验：发票验证、重复提交、企业黑名单等 20 多项校验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自动认证：直连国家税务平台，自动勾选认证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全票池台账：多渠道采集，状态管理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三单匹配：采购订单、收货单、发票自动校验匹配，自动生成应付单据与凭证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648200"/>
            <a:ext cx="4889500" cy="9652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168400" y="4749800"/>
            <a:ext cx="45847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</a:t>
            </a:r>
            <a:r>
              <a:rPr lang="en-US" sz="10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面向中大型企业，部署</a:t>
            </a:r>
            <a:r>
              <a:rPr lang="en-US" sz="1000" b="0" i="0" u="none" strike="noStrike">
                <a:solidFill>
                  <a:srgbClr val="5A5A5A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成本较高</a:t>
            </a:r>
            <a:r>
              <a:rPr lang="en-US" sz="10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；主要聚焦发票，对非发票类业务凭证（合同、入库单）的</a:t>
            </a:r>
            <a:r>
              <a:rPr lang="en-US" sz="1000" b="0" i="0" u="none" strike="noStrike">
                <a:solidFill>
                  <a:srgbClr val="5A5A5A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交叉核验能力有限。</a:t>
            </a:r>
            <a:endParaRPr lang="en-US" sz="1000" b="0" i="0" u="none" strike="noStrike">
              <a:solidFill>
                <a:srgbClr val="5A5A5A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9645">
            <a:off x="4051300" y="3498860"/>
            <a:ext cx="421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6350000" y="1397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金蝶云·星瀚财务共享（智能审核）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350000" y="1676400"/>
            <a:ext cx="482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来源：金蝶云星瀚财务共享解决方案白皮书 · 可信度：高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1955800"/>
            <a:ext cx="4889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低风险简单单据：审核机器人基于 OCR + 规则引擎完全替代人工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高风险复杂单据：基于大数据 + AI + GPT 辅助人工审核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综合利用：信用管理、规则引擎、大数据洞察、AI、GPT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4648200"/>
            <a:ext cx="4889500" cy="9652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502400" y="4749800"/>
            <a:ext cx="45847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</a:t>
            </a:r>
            <a:r>
              <a:rPr lang="en-US" sz="10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属大型集团财务共享解决方案，</a:t>
            </a:r>
            <a:r>
              <a:rPr lang="en-US" sz="1000" b="0" i="0" u="none" strike="noStrike">
                <a:solidFill>
                  <a:srgbClr val="5A5A5A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中小企业难以承受。</a:t>
            </a:r>
            <a:endParaRPr lang="en-US" sz="1000" b="0" i="0" u="none" strike="noStrike">
              <a:solidFill>
                <a:srgbClr val="5A5A5A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来源：金蝶官网 https://m.kingdee.com/products/fpy_sp.html · 金蝶云星瀚财务共享白皮书 · 可信度：高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国内竞品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国内竞品（二）：用友 BIP 财务云 / BIP 超级版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9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来源：用友官网 yonyou.com + BIP 超级版产品页 · 可信度：高（官方文档）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752600"/>
            <a:ext cx="546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082800"/>
            <a:ext cx="546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财务云覆盖：财务会计、管理会计、税务服务、商旅费控、共享服务、全球司库、全面预算、合并报表、电子会计档案、数智合同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BIP 超级版：费用、应收、应付、合同、固定资产、总账、结算全业务共享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智能审核：票据真伪、合规性、费用标准、预算额度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影像管理：票据扫描、上传、存储一体化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数电发票全链路：自动开具、验签解析、报销入账关联、认证勾选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8616">
            <a:off x="4940300" y="3663961"/>
            <a:ext cx="383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7112000" y="1752600"/>
            <a:ext cx="406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 年报信息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112000" y="20828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用友 BIP 6 发布六大 AI 原生新品，包括智能会计助理、商旅报账助理、费控分析助理、共享作业助理等，明确向"AI 原生"和"智能体"方向演进。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112000" y="3810000"/>
            <a:ext cx="4064000" cy="16510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7315200" y="3962400"/>
            <a:ext cx="365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315200" y="4292600"/>
            <a:ext cx="36576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同样面向中大型企业，中小企业部署门槛高；</a:t>
            </a:r>
            <a:r>
              <a:rPr lang="en-US" sz="1100" b="0" i="0" u="none" strike="noStrike">
                <a:solidFill>
                  <a:srgbClr val="5A5A5A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凭证核验嵌入在大系统中，缺乏独立轻量化工具。</a:t>
            </a:r>
            <a:endParaRPr lang="en-US" sz="1100" b="0" i="0" u="none" strike="noStrike">
              <a:solidFill>
                <a:srgbClr val="5A5A5A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来源：用友网络 2025 年年度报告摘要（上交所披露）· 用友官网 · 可信度：高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国际竞品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35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国际竞品以"能力与边界"为核心，而非简单列品牌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066800"/>
            <a:ext cx="1041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以下根据公开官方产品文档形成初步比较，非对所有版本/套餐/部署方式的完整审计；具体价格、功能权限与地区可用性需向厂商进一步核实。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371600"/>
          <a:ext cx="10160000" cy="469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683000"/>
                <a:gridCol w="2540000"/>
                <a:gridCol w="2286000"/>
              </a:tblGrid>
              <a:tr h="368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产品 / 类别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公开资料可确认的能力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值得进一步核实的问题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对本项目的启示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 S/4HANA / SAP Concur Invoice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官方文档描述发票与采购订单匹配、收货数量匹配、差异提示和人工匹配等功能 [6][7]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不同版本/实施配置、非 PO 发票处理、与外部凭证扩展能力及总拥有成本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基础匹配并非空白；创新应聚焦多类型凭证关联、异常解释、轻量部署等可验证差异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Oracle Fusion Cloud Payables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大型企业云财务及应付流程重点竞品；需逐项确认重复发票控制、匹配规则与审批配置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功能适用版本、自动化范围、实施与集成成本、中小企业可负担性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不可未经验证便声称其缺乏 AI 或交叉核验能力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Tipalti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官方页面介绍 AI 驱动发票提取、字段/行项目编码、审阅、匹配、审批和付款 [8]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宣传中的效率提升是否适用目标客户；对非发票凭证与本地化规则的支持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专业 AP 自动化已覆盖较长流程，需更窄更深的差异化定位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OCR / IDP 类工具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侧重文档分类、字段提取和结构化数据输出；能力需按产品测试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对跨文档关系、业务真实性、风险解释、审计日志的支持程度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不能把"识别票面"作为唯一技术创新点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763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财务共享 / 外包服务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可通过专业团队或外部平台承接审核和处理流程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服务成本、数据控制权、服务边界、跨系统数据质量和审计责任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工具价值需与人工外包的实际成本和质量对比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机会假设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国际市场痛点归纳与项目机会假设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346200"/>
          <a:ext cx="10160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921000"/>
                <a:gridCol w="2921000"/>
                <a:gridCol w="2413000"/>
              </a:tblGrid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痛点方向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证据基础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潜在产品机会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当前证据状态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人工处理成本与流程效率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APQC 与 Ardent 发布 AP 处理成本基准 [1][2]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自动化低风险、重复性核验；降低重复录入与人工流转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行业问题有证据；本项目节约幅度待测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付款欺诈及供应商冒充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AFP 2025 调查显示付款欺诈/未遂事件普遍存在 [3]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供应商身份/账户变更提示、重复付款与异常交易风险提示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风险存在有证据；产品检测效果待测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跨文档匹配复杂性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SAP 等官方文档已展示 PO 与收货记录匹配能力 [6][7]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扩展到合同、入库单、行程单、报销附件等多类型凭证关联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需用竞品测试确认具体缺口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审计解释与证据追溯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财务审核需可复核记录；需访谈确认痛点强度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逐项展示异常字段、来源凭证、规则和人工确认记录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市场强度需访谈验证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中小企业部署与成本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英国政策强调电子发票对中小企业收益 [5]；现有产品成本需实查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独立工具、按量计费、低代码接入现有财务软件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重要假设，尚不能直接认定为市场空白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数字化税务与跨境合规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欧盟 ViDA 及英国电子发票政策 [4][5]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结构化数据质量检查、标准适配、跨境数据追踪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趋势有证据；具体付费需求需验证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3 · 竞品小结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350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highlight>
                  <a:srgbClr val="FFFF00"/>
                </a:highlight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竞品共性局限</a:t>
            </a: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，恰是本项目的创新切口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2446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现有产品共性局限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5494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大多只识别发票，无法联动业务凭证（入库单、合同）交叉核验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偏向大企业，中小企业买不起、部署复杂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嵌入在大型 ERP/财务共享系统中，缺乏独立轻量化工具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12446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本项目可能的创新点</a:t>
            </a:r>
            <a:endParaRPr lang="en-US" sz="1200" b="1" i="0" u="none" strike="noStrike">
              <a:solidFill>
                <a:srgbClr val="802636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5494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聚焦"凭证核验"单一环节，轻量化部署（网页/小程序）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支持发票+业务凭证（合同、入库单、行程单）交叉核验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面向中小企业，降低使用门槛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016000" y="3175000"/>
          <a:ext cx="10160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616200"/>
                <a:gridCol w="2628900"/>
                <a:gridCol w="2628900"/>
              </a:tblGrid>
              <a:tr h="419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纯人工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现有商用软件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外包共享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高（工时+纠错）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高（订阅费+部署）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中（服务费）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效率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中（发票环节自动）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准确率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低（12–18% 错）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较高（发票识别）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交叉核验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靠人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弱（多只管发票）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中小企业适用性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高（但痛）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低（太贵太复杂）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低（量不够）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4 · 成本与局限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问题④</a:t>
            </a:r>
            <a:r>
              <a:rPr lang="en-US" altLang="zh-CN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现有方案的成本结构：人工贵，商用软件更贵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574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人工成本（可信度：高）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930400"/>
            <a:ext cx="482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单张发票处理：$10–$22（手动），8–15 分钟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错误率：12%–18%（IOFM）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纠错成本：正常处理成本的 5–10 倍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AP 人员 57% 工时用于数据录入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49022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来源：APQC + Ardent Partners + Lido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121">
            <a:off x="4089400" y="3575060"/>
            <a:ext cx="401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350000" y="1574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现有商用软件成本（可信度：中）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1930400"/>
            <a:ext cx="482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金蝶云·星瀚、用友 BIP 等大型系统：年费通常数十万至数百万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独立发票查验模块（金蝶发票云等）：按发票量计费，中小企业仍有门槛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部署周期长，需要 IT 团队配合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6350000" y="4902200"/>
            <a:ext cx="482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来源：金蝶/用友好品定价（公开信息）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来源：APQC · Ardent Partners · Lido · IOFM · 金蝶/用友公开定价信息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5 · 损失与风险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问题⑤</a:t>
            </a:r>
            <a:r>
              <a:rPr lang="en-US" altLang="zh-CN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问题带来的损失与风险：直接罚款与间接成本并存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46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直接风险 1 · 假发票入账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51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假发票入账不仅需补缴税款，还可能面临 0.5–5 倍罚款，情节严重的追究刑事责任（《税收征收管理法》第 63 条）。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1346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直接风险 2 · 重复付款与支付舞弊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1651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76% 组织经历支付欺诈；重复付款占总支出 0.8%–2%。以年支出 1 亿企业为例，重复付款损失约 80 万–200 万/年。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04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3251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间接成本 1 · 人工审核占用大量工时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3556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 人员 57% 工时用于数据录入，63% 团队每周 &gt;10 小时处理发票。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6350000" y="3251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间接成本 2 · 审计追溯困难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350000" y="3556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凭证资料分散、人工核验无记录，审计时追溯困难，可能导致审计调整、审计费用增加。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来源：国家税务总局税收违法/稽查案例 · AFP《2026 Payments Fraud and Control Survey》· Ardent Partners · 上国会报告 · 可信度：高 / 中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5 · 数字化税务趋势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35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电子发票与数字化税务监管趋势：ViDA 与英国强制电子发票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11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2954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683000"/>
                <a:gridCol w="2667000"/>
                <a:gridCol w="2286000"/>
              </a:tblGrid>
              <a:tr h="355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地区 / 政策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已公布安排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对项目的启示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不能据此推断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1346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欧盟 ViDA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改革于 2025 年 3 月 11 日通过；跨境 B2B 数字化报告要求自 2030 年 7 月起实施；分阶段推进至 2035 年 [4]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数字化交易记录与税务报告将持续发展，跨境业务需</a:t>
                      </a: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highlight>
                            <a:srgbClr val="FFFF00"/>
                          </a:highlight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重视数据标准与合规追踪</a:t>
                      </a:r>
                      <a:endParaRPr lang="en-US" sz="1000" b="0" i="0" u="none" strike="noStrike">
                        <a:solidFill>
                          <a:srgbClr val="1F2329"/>
                        </a:solidFill>
                        <a:highlight>
                          <a:srgbClr val="FFFF00"/>
                        </a:highlight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不能直接证明特定 AI 核验产品必然有需求，或能自动满足所有法规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462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英国电子发票政策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政府 2025 年 11 月公布咨询结果，计划自 2029 年起对所有 VAT 发票引入强制电子发票要求 [5]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highlight>
                            <a:srgbClr val="FFFF00"/>
                          </a:highlight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企业可能需适配数字化发票流程、数据质量控制和系统互操作性</a:t>
                      </a:r>
                      <a:endParaRPr lang="en-US" sz="1000" b="0" i="0" u="none" strike="noStrike">
                        <a:solidFill>
                          <a:srgbClr val="1F2329"/>
                        </a:solidFill>
                        <a:highlight>
                          <a:srgbClr val="FFFF00"/>
                        </a:highlight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政策目标不等于已实现的企业节约金额；需持续核实实施细则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4572000"/>
            <a:ext cx="10160000" cy="13208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270000" y="472440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项目论证要点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270000" y="5054600"/>
            <a:ext cx="965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电子发票解决的是发票的数字化传递与结构化问题；智能核验进一步关注数据是否一致、交易关系是否匹配、是否存在重复或异常，以及审核依据能否被追溯。两者相关但不等同。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来源：欧盟委员会 VAT in the Digital Age (ViDA) [4] · GOV.UK 电子发票咨询结果（2025.11）[5]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6 · 付费意愿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000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问题⑥</a:t>
            </a:r>
            <a:r>
              <a:rPr lang="en-US" altLang="zh-CN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 </a:t>
            </a: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用户有尝试意愿，但核心顾虑是数据安全与可验证性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208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意愿正面数据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256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8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71.1% 认为 AI 可大量应用（2026）</a:t>
            </a:r>
            <a:endParaRPr lang="en-US" sz="1100"/>
          </a:p>
          <a:p>
            <a:pPr marL="0" indent="0" algn="l">
              <a:lnSpc>
                <a:spcPct val="138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79.5% 认为 AI 将深入影响会计工作（2026）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85.1% 认可人机一体化协同管理（2026）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73.8% 认为财务需要转型（2026）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8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过半财会人员已常态化使用生成式 AI（ACCA）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4084">
            <a:off x="4724400" y="2686065"/>
            <a:ext cx="274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350000" y="13208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顾虑数据（必须正视）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0" y="16256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应用担忧第一：数据问题 15.3%→20.9%→27.3%（三年上升）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数据安全：6.5%→9.7%→15.1%；责任界定 2.6%→14.3%；合规要求 2.0%→10.6%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42% 将数据质量列为 AI 落地首要障碍；93% 对无法验证的 AI 输出存顾虑；72% 认为自身 AI 技能较低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10160000" cy="15748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270000" y="4470400"/>
            <a:ext cx="965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 → 本项目设计应回应这些顾虑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270000" y="4826000"/>
            <a:ext cx="965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用户有意愿，但核心顾虑是：</a:t>
            </a:r>
            <a:r>
              <a:rPr lang="en-US" sz="1200" b="1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数据安全、可验证性、数据质量</a:t>
            </a: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>
              <a:highlight>
                <a:srgbClr val="FFFF00"/>
              </a:highlight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3C3C3C"/>
                </a:solidFill>
                <a:highlight>
                  <a:srgbClr val="FFFF00"/>
                </a:highlight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本地化部署 / 数据不出域；AI 核验结果可追溯可解释；支持人工复核确认。</a:t>
            </a:r>
            <a:endParaRPr lang="en-US" sz="1200" b="0" i="0" u="none" strike="noStrike">
              <a:solidFill>
                <a:srgbClr val="3C3C3C"/>
              </a:solidFill>
              <a:highlight>
                <a:srgbClr val="FFFF00"/>
              </a:highlight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来源：上海国家会计学院《2026 年中国企业财务智能化调查报告》· ACCA《中国共享服务领域调研报告》· 可信度：高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WHAT · 问题 7 · 正反证据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支持需求的证据，与必须正视的反面证据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208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支持证据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25600"/>
            <a:ext cx="48895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人工核验耗时占 AP 人员 57% 工时（Ardent Partners）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手动发票处理成本 $10–$22/张（APQC/Lido）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76% 组织经历支付欺诈，重复付款占总支出 0.8%–2%（AFP/APQC）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仅 10.87% 企业实现全面智能化（上国会）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85.1% 认可人机协同，71.1% 认为 AI 可大量应用（上国会）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 大模型财务应用中"费用报销审核"已成热门场景（上国会）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7. 中交华中、华润置地等案例证明智能核验可显著提效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90343">
            <a:off x="3898900" y="3575059"/>
            <a:ext cx="452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350000" y="13208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反证（需逐一回应）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0" y="1625600"/>
            <a:ext cx="48895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市面上已有成熟产品（金蝶发票云、用友 BIP）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→ 需论证：它们为何未覆盖中小企业？为何缺乏业务凭证交叉核验？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数据安全顾虑持续上升（27.3% 担忧数据问题）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→ 需论证：本方案如何保障数据安全？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部分企业凭证格式不统一，AI 识别准确率难保证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→ 需论证：适用边界与准确率保障机制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财务人员技能不足（72% 认为自身 AI 技能较低）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→ 需论证：本方案是否足够简单易用？</a:t>
            </a:r>
            <a:endParaRPr lang="en-US" sz="105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来源：Ardent Partners · APQC/Lido · AFP/APQC · 上海国家会计学院 · ACCA · 中交华中/华润置地公开案例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540000"/>
            <a:ext cx="609600" cy="50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2743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2004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HOW · 调研实操方案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39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种调研实施方式 · 信息来源与检索纪律 · 检索关键词与优先信息源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· 调研方式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4 种调研实施方式：定性深挖 + 量化 + 公开数据 + 反证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462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397000" y="13462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访谈（定性深挖）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397000" y="16764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优先对象：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高校会计导师（唐勇军，已核实身份，研究方向匹配）</a:t>
            </a:r>
            <a:endParaRPr lang="en-US" sz="105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企业财务负责人、财务共享中心员工</a:t>
            </a:r>
            <a:endParaRPr lang="en-US" sz="105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会计师事务所从业者</a:t>
            </a:r>
            <a:endParaRPr lang="en-US" sz="105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3462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731000" y="13462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问卷与量化（把感受变成数据）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731000" y="16764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建议量化指标：单月处理凭证数量、单张平均处理耗时、核验错误频次、重复付款/差错金额、现有工具年度成本、对 AI 工具的付费意愿区间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3244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3429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397000" y="34290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公开数据搜集（已完成部分）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397000" y="3759200"/>
            <a:ext cx="431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已搜集：上国会《2026 财务智能化调查报告》、ACCA 调研、AFP《2026 Payments Fraud》、用友 2025 年报、金蝶/用友好品文档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待补充：税务处罚公告（假发票入账案例）、上市公司年报内部控制章节</a:t>
            </a:r>
            <a:endParaRPr lang="en-US" sz="105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6350000" y="34290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731000" y="3429000"/>
            <a:ext cx="419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反证检索（避免片面）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731000" y="3759200"/>
            <a:ext cx="444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已检索反证：金蝶发票云/用友 BIP 已有成熟产品；数据安全顾虑数据；ACCA 关于 AI 可验证性顾虑数据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待检索：财务 AI 落地失败案例；现有应付账款系统优势案例</a:t>
            </a:r>
            <a:endParaRPr lang="en-US" sz="105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HOW 调研实施方式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HOW · 信源与纪律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7112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信息来源与检索纪律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314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651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可用信息来源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2133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422400" y="2133600"/>
            <a:ext cx="949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行业协会调查（已用：上海国家会计学院、ACCA、AFP、APQC、Ardent Partners）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2641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422400" y="2641600"/>
            <a:ext cx="949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监管与执法公告（待补充税务处罚案例）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3149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422400" y="3149600"/>
            <a:ext cx="949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上市公司年报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3657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422400" y="3657600"/>
            <a:ext cx="949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访谈记录整理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16000" y="4165600"/>
            <a:ext cx="38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422400" y="4165600"/>
            <a:ext cx="949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招聘信息（待补充）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297">
            <a:off x="1016004" y="481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1016000" y="508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信息来源与检索纪律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540000"/>
            <a:ext cx="609600" cy="50800"/>
          </a:xfrm>
          <a:prstGeom prst="roundRect">
            <a:avLst>
              <a:gd name="adj" fmla="val 0"/>
            </a:avLst>
          </a:prstGeom>
          <a:solidFill>
            <a:srgbClr val="80263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1016000" y="2743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32004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4394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这个方向应产出什么：需求证据报告 · 用户画像 · 成本结构 · 反证与不确定性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交付物 1 · 需求证据报告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350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 1 · 需求证据报告（每条含来源 / 日期 / 可信度）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1244600"/>
          <a:ext cx="10160000" cy="5003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08000"/>
                <a:gridCol w="4191000"/>
                <a:gridCol w="3556000"/>
                <a:gridCol w="1016000"/>
                <a:gridCol w="889000"/>
              </a:tblGrid>
              <a:tr h="330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#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证据内容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来源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日期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可信度</a:t>
                      </a:r>
                      <a:endParaRPr lang="en-US"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2636">
                        <a:alpha val="100000"/>
                      </a:srgbClr>
                    </a:solidFill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 人员 57% 工时用于手动数据录入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Ardent Partners《AP Metrics that Matter 2025》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手动发票处理成本 $10–$22/张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Lido《2026 AP Cost Benchmark》+ APQC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2025–2026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76% 组织经历支付欺诈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AFP《2026 Payments Fraud and Control Survey》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重复付款占总支出 0.8%–2%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APQC 基准数据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85.1% 企业认可人机一体化协同管理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上海国家会计学院《2026 财务智能化调查报告》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 10.87% 企业实现全面智能化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上海国家会计学院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数据安全担忧从 6.5% 升至 15.1%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上海国家会计学院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2024–2026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4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93% 财务人员对 AI 输出可验证性存顾虑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ACCA 调研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交付物 2 · 用户画像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 2 · 使用者 / 购买者 / 决策者画像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11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320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使用者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651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财务共享中心会计、应付账款专员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082800"/>
            <a:ext cx="3048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省时间、减少重复劳动、降低出错率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顾虑：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是否会替代自己、数据是否安全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考核指标：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处理量、准确率、时效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90064">
            <a:off x="2184400" y="3511559"/>
            <a:ext cx="439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4635500" y="13208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购买者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35500" y="1651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财务总监、共享中心负责人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635500" y="2082800"/>
            <a:ext cx="3048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降本增效、风控合规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顾虑：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投入回报、系统集成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考核指标：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部门成本、审计通过率、合规评分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90064">
            <a:off x="5803900" y="3511559"/>
            <a:ext cx="439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255000" y="13208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决策者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255000" y="1651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 CFO、分管副总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255000" y="2082800"/>
            <a:ext cx="2921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诉求：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内控风险、合规、投入回报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顾虑：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数据安全、责任界定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考核指标：</a:t>
            </a: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财务风险事件数、审计意见、ROI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使用者/购买者/决策者画像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交付物 3 · 成本结构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 3 · 现有处理方式的成本结构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1041400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6767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以年处理 1 万张发票的企业为例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1016000" y="1549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人工成本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19050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处理成本：1 万张 × $15（中位数）≈ </a:t>
            </a:r>
            <a:r>
              <a:rPr lang="en-US" sz="11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$15 万/年 ≈ ¥108 万/年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错误成本：1 万张 × 15%（中位错误率）× 纠错成本（正常 5–10 倍）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人力占用：AP 人员 57% 工时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89519">
            <a:off x="4076700" y="3625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6350000" y="1549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风险成本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1905000"/>
            <a:ext cx="488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重复付款：年支出 × 0.8%–2%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税务罚款：假发票入账补税 + 0.5–5 倍罚款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1016000" y="42418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系统成本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" y="4597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大型 ERP / 财务共享：数十万 – 数百万/年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独立发票查验模块：按量计费</a:t>
            </a:r>
            <a:endParaRPr lang="en-US" sz="11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来源：APQC · Ardent Partners · Lido · IOFM · 金蝶/用友公开定价 · 以年处理 1 万张发票企业测算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交付物 4 · 反证与不确定性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交付物 4 · 反证与不确定性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11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2954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2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市面上已有成熟产品</a:t>
            </a: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（金蝶发票云、用友 BIP）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→ 客户未直接使用的原因：太贵、太复杂、只管发票不管业务凭证。</a:t>
            </a:r>
            <a:endParaRPr lang="en-US" sz="1200" b="0" i="0" u="none" strike="noStrike">
              <a:solidFill>
                <a:srgbClr val="32323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21844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不确定性场景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5146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凭证格式极度不统一的企业（如大量非标准单据）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对数据泄露零容忍的企业（需本地化部署方案）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凭证量极小的小微企业（成本可能不划算）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016000" y="3911600"/>
            <a:ext cx="1016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6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风险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42418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合规风险：AI 核验结果的法律责任界定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数据安全：财务敏感数据泄露风险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人员抵触：财务人员担心被替代</a:t>
            </a:r>
            <a:endParaRPr lang="en-US" sz="11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反证与不确定性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3556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财务凭证核验 · 前期调研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0" y="3556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 · 资料索引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6604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626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附录：资料文件索引 与 可信度评级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1111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1016000" y="1270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关键网络来源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1574800"/>
            <a:ext cx="48895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上海国家会计学院报告：http://www.snai.edu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ACCA：https://www.accaglobal.com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AFP：https://afponline.org（2026 Payments Fraud Survey）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APQC：https://www.apqc.org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Ardent Partners：https://www.ardentpartners.com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金蝶发票云：https://m.kingdee.com/products/fpy_sp.html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0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用友 BIP：https://yonyou.com</a:t>
            </a:r>
            <a:endParaRPr lang="en-US" sz="10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7722">
            <a:off x="4381500" y="3041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350000" y="1270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参考资料（官方链接）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0" y="1574800"/>
            <a:ext cx="48895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 APQC. What Is the Average Cost to Process an Invoice?</a:t>
            </a:r>
            <a:endParaRPr lang="en-US" sz="1100"/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 Ardent Partners. The State of ePayables 2025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[3] AFP. 2025 Payments Fraud and Control Survey Report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European Commission. VAT in the Digital Age (ViDA), 2025.03.11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[5] GOV.UK. Promoting electronic invoicing — consultation outcome, 2025.11.26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[6] SAP Help Portal. Invoice Verification documentation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[7] SAP Concur. Two-Way and Three-Way Matching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</a:pPr>
            <a:r>
              <a:rPr lang="en-US" sz="85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[8] Tipalti. AI-Powered Invoice Management</a:t>
            </a:r>
            <a:endParaRPr lang="en-US" sz="85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978400"/>
            <a:ext cx="10160000" cy="1066800"/>
          </a:xfrm>
          <a:prstGeom prst="roundRect">
            <a:avLst>
              <a:gd name="adj" fmla="val 0"/>
            </a:avLst>
          </a:prstGeom>
          <a:solidFill>
            <a:srgbClr val="F4F4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270000" y="51054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0263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可信度评级说明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270000" y="54102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高：</a:t>
            </a:r>
            <a:r>
              <a:rPr lang="en-US" sz="10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官方年报、权威行业报告（上国会、ACCA、AFP、APQC）、官方产品文档　　</a:t>
            </a:r>
            <a:r>
              <a:rPr lang="en-US" sz="1000" b="1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中：</a:t>
            </a:r>
            <a:r>
              <a:rPr lang="en-US" sz="10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深度访谈记录、企业公开案例报道　　</a:t>
            </a:r>
            <a:r>
              <a:rPr lang="en-US" sz="1000" b="1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低：</a:t>
            </a:r>
            <a:r>
              <a:rPr lang="en-US" sz="10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自媒体文章（慎用）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297">
            <a:off x="1016004" y="629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8D8D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1016000" y="6400800"/>
            <a:ext cx="1041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来源：项目前期调研文档 · 附录资料索引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13071</Words>
  <Application>WPS 演示</Application>
  <PresentationFormat/>
  <Paragraphs>1179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Arial</vt:lpstr>
      <vt:lpstr>宋体</vt:lpstr>
      <vt:lpstr>Wingdings</vt:lpstr>
      <vt:lpstr>Arial</vt:lpstr>
      <vt:lpstr>Noto Sans SC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丘木</cp:lastModifiedBy>
  <cp:revision>2</cp:revision>
  <dcterms:created xsi:type="dcterms:W3CDTF">2026-10-21T12:04:25Z</dcterms:created>
  <dcterms:modified xsi:type="dcterms:W3CDTF">2026-10-21T12:26:59Z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{"Label":"1","ContentProducer":"001191110102MACQD9K64010000","ProduceID":"7699084642108952997","ReservedCode1":"","ContentPropagator":"","PropagateID":"","ReservedCode2":""}</vt:lpwstr>
  </property>
  <property fmtid="{D5CDD505-2E9C-101B-9397-08002B2CF9AE}" pid="3" name="KSOProductBuildVer">
    <vt:lpwstr>2052-12.1.0.29161</vt:lpwstr>
  </property>
  <property fmtid="{D5CDD505-2E9C-101B-9397-08002B2CF9AE}" pid="4" name="ICV">
    <vt:lpwstr>30C1F011B0D94365867D7FCABE4521DE_12</vt:lpwstr>
  </property>
</Properties>
</file>
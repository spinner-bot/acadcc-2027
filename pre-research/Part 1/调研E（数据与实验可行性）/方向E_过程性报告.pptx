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10" Type="http://schemas.openxmlformats.org/officeDocument/2006/relationships/tableStyles" Target="tableStyles.xml" /><Relationship Id="rId1" Type="http://schemas.openxmlformats.org/officeDocument/2006/relationships/slide" Target="slides/slide1.xml" /><Relationship Id="rId11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8" Type="http://schemas.openxmlformats.org/officeDocument/2006/relationships/notesMaster" Target="notesMasters/notesMaster1.xml" /><Relationship Id="rId9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osition: 'relative', fontFamily: '&quot;Source Han Sans SC&quot;,&quot;Microsoft YaHei&quot;,sans-serif' }}&gt;&#10;    &lt;Box style={{ position: 'absolute', top: 0, left: 0, width: 1280, height: 8, background: '#1E4FA8' }} /&gt;&#10;&#10;    &lt;Box style={{ position: 'absolute', top: 92, left: 96, width: 1088, flexDirection: 'row', justifyContent: 'space-between', alignItems: 'center' }}&gt;&#10;        &lt;Text style={{ fontSize: 15, color: '#8B97A8', letterSpacing: 2.5 }}&gt;ACAD.CC 2027　·　前期调研进展对齐会　·　[6A22-01]&lt;/Text&gt;&#10;        &lt;Box style={{ background: '#E8EFF8', borderRadius: 4, paddingLeft: 12, paddingRight: 12, paddingTop: 5, paddingBottom: 5 }}&gt;&#10;            &lt;Text style={{ fontSize: 15, color: '#1E4FA8', fontWeight: 'bold' }}&gt;过程性报告 · 非结论&lt;/Text&gt;&#10;        &lt;/Box&gt;&#10;    &lt;/Box&gt;&#10;&#10;    &lt;Box style={{ position: 'absolute', top: 136, left: 96, width: 1088, height: 3, background: '#1E4FA8' }} /&gt;&#10;&#10;    &lt;Box style={{ position: 'absolute', top: 168, left: 96, width: 1088, flexDirection: 'column' }}&gt;&#10;        &lt;Text style={{ fontSize: 74, fontWeight: 'bold', color: '#0E3F8C', lineHeight: 1.22 }}&gt;数据与实验可行性&lt;/Text&gt;&#10;        &lt;Box style={{ flexDirection: 'row', justifyContent: 'space-between', alignItems: 'flex-end', marginTop: 14 }}&gt;&#10;            &lt;Text style={{ fontSize: 23, color: '#4A5568', fontFamily: '&quot;Times New Roman&quot;,serif' }}&gt;Data Availability &amp;amp; Experimental Feasibility&lt;/Text&gt;&#10;            &lt;Text style={{ fontSize: 18, color: '#4A5568' }}&gt;汇报人　&lt;span style={{ fontWeight: 'bold', color: '#1A2230' }}&gt;王雷超&lt;/span&gt;　·　软件工程 2025 级&lt;/Text&gt;&#10;        &lt;/Box&gt;&#10;        &lt;Box style={{ flexDirection: 'row', alignItems: 'center', marginTop: 22 }}&gt;&#10;            &lt;Box style={{ background: '#0E3F8C', borderRadius: 4, paddingLeft: 12, paddingRight: 12, paddingTop: 6, paddingBottom: 6 }}&gt;&#10;                &lt;Text style={{ fontSize: 16, color: '#FFFFFF', fontWeight: 'bold' }}&gt;调研方向 E&lt;/Text&gt;&#10;            &lt;/Box&gt;&#10;            &lt;Text style={{ fontSize: 18, color: '#4A5568', marginLeft: 12 }}&gt;本次只报过程：做了什么、卡在哪、下一步&lt;/Text&gt;&#10;        &lt;/Box&gt;&#10;    &lt;/Box&gt;&#10;&#10;    &lt;Box style={{ position: 'absolute', top: 388, left: 96, width: 1088, flexDirection: 'row', gap: 24 }}&gt;&#10;        &lt;Box style={{ width: 346, height: 146, background: '#F7F9FC', border: '1px solid #D6DCE5', borderTop: '3px solid #1E4FA8', borderRadius: 4, paddingLeft: 26, paddingTop: 22, flexDirection: 'column' }}&gt;&#10;            &lt;Text style={{ fontSize: 46, fontWeight: 'bold', color: '#0E3F8C', lineHeight: 1 }}&gt;09&lt;/Text&gt;&#10;            &lt;Text style={{ fontSize: 16, color: '#4A5568', marginTop: 12 }}&gt;已初盘的公开数据来源&lt;/Text&gt;&#10;            &lt;Text style={{ fontSize: 14, color: '#8B97A8', marginTop: 6 }}&gt;单据 / 表单 / 版面 / 财报舞弊&lt;/Text&gt;&#10;        &lt;/Box&gt;&#10;        &lt;Box style={{ width: 346, height: 146, background: '#F7F9FC', border: '1px solid #D6DCE5', borderTop: '3px solid #1E4FA8', borderRadius: 4, paddingLeft: 26, paddingTop: 22, flexDirection: 'column' }}&gt;&#10;            &lt;Text style={{ fontSize: 46, fontWeight: 'bold', color: '#0E3F8C', lineHeight: 1 }}&gt;04&lt;/Text&gt;&#10;            &lt;Text style={{ fontSize: 16, color: '#4A5568', marginTop: 12 }}&gt;并行推进的替代路线&lt;/Text&gt;&#10;            &lt;Text style={{ fontSize: 14, color: '#8B97A8', marginTop: 6 }}&gt;其中两条自己可控，两条要看别人&lt;/Text&gt;&#10;        &lt;/Box&gt;&#10;        &lt;Box style={{ width: 346, height: 146, background: '#FDF5F5', border: '1px solid #EBD5D4', borderTop: '3px solid #D9534F', borderRadius: 4, paddingLeft: 26, paddingTop: 22, flexDirection: 'column' }}&gt;&#10;            &lt;Text style={{ fontSize: 46, fontWeight: 'bold', color: '#D9534F', lineHeight: 1 }}&gt;01&lt;/Text&gt;&#10;            &lt;Text style={{ fontSize: 16, color: '#4A5568', marginTop: 12 }}&gt;关键缺口：无公开 benchmark&lt;/Text&gt;&#10;            &lt;Text style={{ fontSize: 14, color: '#8B97A8', marginTop: 6 }}&gt;本次检索范围内未发现三单匹配基准&lt;/Text&gt;&#10;        &lt;/Box&gt;&#10;    &lt;/Box&gt;&#10;&#10;    &lt;Box style={{ position: 'absolute', top: 566, left: 0, width: 1280, height: 154, background: '#0E3F8C', flexDirection: 'column', justifyContent: 'center', paddingLeft: 96, paddingRight: 96 }}&gt;&#10;        &lt;Box style={{ flexDirection: 'row', justifyContent: 'space-between', alignItems: 'center' }}&gt;&#10;            &lt;Text style={{ fontSize: 21, color: '#FFFFFF', fontWeight: 'bold' }}&gt;2026.10.22　前期调研进展对齐会&lt;/Text&gt;&#10;            &lt;Text style={{ fontSize: 16, color: '#B5D4F4' }}&gt;汇报顺序第 4 位&lt;/Text&gt;&#10;        &lt;/Box&gt;&#10;        &lt;Text style={{ fontSize: 15, color: '#B5D4F4', marginTop: 12 }}&gt;真实数据拿不到，不等于实验做不成——但代价必须先说清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923925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88">
                <a:solidFill>
                  <a:srgbClr val="8B97A8"/>
                </a:solidFill>
                <a:latin typeface="Source Han Sans SC"/>
                <a:ea typeface="Source Han Sans SC"/>
              </a:rPr>
              <a:t>ACAD.CC 2027</a:t>
            </a:r>
            <a:r>
              <a:rPr lang="zh-CN" sz="1125" spc="188">
                <a:solidFill>
                  <a:srgbClr val="8B97A8"/>
                </a:solidFill>
                <a:latin typeface="Source Han Sans SC"/>
                <a:ea typeface="Source Han Sans SC"/>
              </a:rPr>
              <a:t>　·　前期调研进展对齐会　·　</a:t>
            </a:r>
            <a:r>
              <a:rPr lang="en-US" sz="1125" spc="188">
                <a:solidFill>
                  <a:srgbClr val="8B97A8"/>
                </a:solidFill>
                <a:latin typeface="Source Han Sans SC"/>
                <a:ea typeface="Source Han Sans SC"/>
              </a:rPr>
              <a:t>[6A22-01]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9753600" y="876300"/>
            <a:ext cx="1524000" cy="266700"/>
          </a:xfrm>
          <a:prstGeom prst="roundRect">
            <a:avLst>
              <a:gd name="adj" fmla="val 1428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867900" y="923925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Source Han Sans SC"/>
                <a:ea typeface="Source Han Sans SC"/>
              </a:rPr>
              <a:t>过程性报告</a:t>
            </a: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 b="1">
                <a:solidFill>
                  <a:srgbClr val="1E4FA8"/>
                </a:solidFill>
                <a:latin typeface="Source Han Sans SC"/>
                <a:ea typeface="Source Han Sans SC"/>
              </a:rPr>
              <a:t>非结论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914400" y="1295400"/>
            <a:ext cx="103632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1600200"/>
            <a:ext cx="10363200" cy="1038225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5550" b="1">
                <a:solidFill>
                  <a:srgbClr val="0E3F8C"/>
                </a:solidFill>
                <a:latin typeface="Source Han Sans SC"/>
                <a:ea typeface="Source Han Sans SC"/>
              </a:rPr>
              <a:t>数据与实验可行性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14400" y="2771775"/>
            <a:ext cx="39433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>
                <a:solidFill>
                  <a:srgbClr val="4A5568"/>
                </a:solidFill>
                <a:latin typeface="Times New Roman"/>
                <a:ea typeface="Times New Roman"/>
              </a:rPr>
              <a:t>Data Availability &amp; Experimental Feasibility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24850" y="2828925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汇报人　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王雷超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　·　软件工程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 xml:space="preserve"> 2025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级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914400" y="3248025"/>
            <a:ext cx="971550" cy="3048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28700" y="3305175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Source Han Sans SC"/>
                <a:ea typeface="Source Han Sans SC"/>
              </a:rPr>
              <a:t>调研方向</a:t>
            </a: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E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000250" y="329565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本次只报过程：做了什么、卡在哪、下一步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914400" y="3724275"/>
            <a:ext cx="3295650" cy="1362075"/>
          </a:xfrm>
          <a:prstGeom prst="roundRect">
            <a:avLst>
              <a:gd name="adj" fmla="val 279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914400" y="3724275"/>
            <a:ext cx="3295650" cy="1362075"/>
          </a:xfrm>
          <a:custGeom>
            <a:pathLst>
              <a:path w="346" h="143">
                <a:moveTo>
                  <a:pt x="342" y="0"/>
                </a:moveTo>
                <a:cubicBezTo>
                  <a:pt x="344" y="0"/>
                  <a:pt x="346" y="2"/>
                  <a:pt x="346" y="4"/>
                </a:cubicBezTo>
                <a:cubicBezTo>
                  <a:pt x="346" y="3"/>
                  <a:pt x="345" y="3"/>
                  <a:pt x="34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42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162050" y="3933825"/>
            <a:ext cx="3048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E3F8C"/>
                </a:solidFill>
                <a:latin typeface="Source Han Sans SC"/>
                <a:ea typeface="Source Han Sans SC"/>
              </a:rPr>
              <a:t>09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162050" y="45815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已初盘的公开数据来源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162050" y="48291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单据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表单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版面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财报舞弊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4438650" y="3724275"/>
            <a:ext cx="3295650" cy="1362075"/>
          </a:xfrm>
          <a:prstGeom prst="roundRect">
            <a:avLst>
              <a:gd name="adj" fmla="val 279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4438650" y="3724275"/>
            <a:ext cx="3295650" cy="1362075"/>
          </a:xfrm>
          <a:custGeom>
            <a:pathLst>
              <a:path w="346" h="143">
                <a:moveTo>
                  <a:pt x="342" y="0"/>
                </a:moveTo>
                <a:cubicBezTo>
                  <a:pt x="344" y="0"/>
                  <a:pt x="346" y="2"/>
                  <a:pt x="346" y="4"/>
                </a:cubicBezTo>
                <a:cubicBezTo>
                  <a:pt x="346" y="3"/>
                  <a:pt x="345" y="3"/>
                  <a:pt x="34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42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686300" y="3933825"/>
            <a:ext cx="3048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E3F8C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686300" y="45815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并行推进的替代路线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686300" y="48291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其中两条自己可控，两条要看别人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7962900" y="3724275"/>
            <a:ext cx="3295650" cy="1362075"/>
          </a:xfrm>
          <a:prstGeom prst="roundRect">
            <a:avLst>
              <a:gd name="adj" fmla="val 2797"/>
            </a:avLst>
          </a:prstGeom>
          <a:solidFill>
            <a:srgbClr val="FDF5F5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7962900" y="3724275"/>
            <a:ext cx="3295650" cy="1362075"/>
          </a:xfrm>
          <a:custGeom>
            <a:pathLst>
              <a:path w="346" h="143">
                <a:moveTo>
                  <a:pt x="342" y="0"/>
                </a:moveTo>
                <a:cubicBezTo>
                  <a:pt x="344" y="0"/>
                  <a:pt x="346" y="2"/>
                  <a:pt x="346" y="4"/>
                </a:cubicBezTo>
                <a:cubicBezTo>
                  <a:pt x="346" y="3"/>
                  <a:pt x="345" y="3"/>
                  <a:pt x="345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342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210550" y="3933825"/>
            <a:ext cx="3048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D9534F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210550" y="45815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关键缺口：无公开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 xml:space="preserve"> benchmark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210550" y="48291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本次检索范围内未发现三单匹配基准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0" y="5391150"/>
            <a:ext cx="12192000" cy="14668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14400" y="5857875"/>
            <a:ext cx="3105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2026.10.22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　前期调研进展对齐会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182225" y="5886450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B5D4F4"/>
                </a:solidFill>
                <a:latin typeface="Source Han Sans SC"/>
                <a:ea typeface="Source Han Sans SC"/>
              </a:rPr>
              <a:t>汇报顺序第</a:t>
            </a:r>
            <a:r>
              <a:rPr lang="en-US" sz="1200">
                <a:solidFill>
                  <a:srgbClr val="B5D4F4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200">
                <a:solidFill>
                  <a:srgbClr val="B5D4F4"/>
                </a:solidFill>
                <a:latin typeface="Source Han Sans SC"/>
                <a:ea typeface="Source Han Sans SC"/>
              </a:rPr>
              <a:t>位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914400" y="6219825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5D4F4"/>
                </a:solidFill>
                <a:latin typeface="Source Han Sans SC"/>
                <a:ea typeface="Source Han Sans SC"/>
              </a:rPr>
              <a:t>真实数据拿不到，不等于实验做不成——但代价必须先说清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style={{ width: 1280, height: 720, background: '#FFFFFF', position: 'relative', fontFamily: '&quot;Source Han Sans SC&quot;,&quot;Microsoft YaHei&quot;,sans-serif' }}&gt;&#10;    &lt;Box style={{ position: 'absolute', top: 0, left: 0, width: 1280, height: 8, background: '#1E4FA8' }} /&gt;&#10;&#10;    &lt;Box style={{ position: 'absolute', top: 48, left: 96, width: 1088, flexDirection: 'column' }}&gt;&#10;        &lt;Text style={{ fontSize: 14, color: '#8B97A8', letterSpacing: 2 }}&gt;01　起点&lt;/Text&gt;&#10;        &lt;Text style={{ fontSize: 34, fontWeight: 'bold', color: '#0E3F8C', marginTop: 10 }}&gt;三条约束，决定了真实数据这条路走不通&lt;/Text&gt;&#10;    &lt;/Box&gt;&#10;    &lt;Box style={{ position: 'absolute', top: 118, left: 96, width: 1088, height: 2, background: '#D6DCE5' }} /&gt;&#10;&#10;    &lt;Box style={{ position: 'absolute', top: 138, left: 96, width: 744, flexDirection: 'column' }}&gt;&#10;        &lt;Text style={{ fontSize: 22, color: '#1A2230', lineHeight: 1.7 }}&gt;这套系统要做的，是把合同、验收单、发票、收付款记录、银行流水、会计凭证放在一起交叉比对。前提是手里要有真实发生过的业务单据。这一轮查下来，三条约束把这条路基本堵住了。&lt;br /&gt;&lt;br /&gt;一、财务凭证是企业核心商业秘密。价格、账期、供应商本身就是经营信息，企业没有理由向学生团队开放。&lt;br /&gt;&lt;br /&gt;二、发票票面带姓名、纳税人识别号、开户行与账号，属于个人信息，脱敏不彻底等同于泄露。&lt;br /&gt;&lt;br /&gt;三、凭证与账簿受会计档案管理办法约束，有保管年限与调阅审批，企业内部人员也不能随意导出。&lt;/Text&gt;&#10;    &lt;/Box&gt;&#10;&#10;    &lt;Box style={{ position: 'absolute', top: 138, left: 880, width: 304, height: 372, background: '#F7F9FC', border: '1px solid #D6DCE5', borderRadius: 6, padding: 24, flexDirection: 'column' }}&gt;&#10;        &lt;Text style={{ fontSize: 15, color: '#1E4FA8', fontWeight: 'bold', letterSpacing: 1 }}&gt;三条约束叠加的结果&lt;/Text&gt;&#10;        &lt;Box style={{ width: 40, height: 3, background: '#1E4FA8', marginTop: 12, marginBottom: 16 }} /&gt;&#10;        &lt;Text style={{ fontSize: 20, color: '#1A2230', lineHeight: 1.7 }}&gt;不是「&lt;span style={{ color: '#8B97A8' }}&gt;难拿&lt;/span&gt;」，&lt;br /&gt;而是「&lt;span style={{ color: '#D9534F', fontWeight: 'bold' }}&gt;拿不到授权&lt;/span&gt;」。&lt;/Text&gt;&#10;        &lt;Text style={{ fontSize: 16, color: '#4A5568', lineHeight: 1.8, marginTop: 18 }}&gt;这不是团队能力问题，是制度设计的结果。所以 E 方向要回答的，不是「去哪找数据」，而是「没有真实数据，怎么证明系统有效」。&lt;/Text&gt;&#10;        &lt;Box style={{ width: 256, height: 1, background: '#E5E7EB', marginTop: 20 }} /&gt;&#10;        &lt;Text style={{ fontSize: 13, color: '#8B97A8', marginTop: 12 }}&gt;依据：deck P119　·　10/14 会议纪要&lt;/Text&gt;&#10;    &lt;/Box&gt;&#10;&#10;    &lt;Box style={{ position: 'absolute', top: 540, left: 96, width: 1088, height: 78, background: '#E8EFF8', borderLeft: '4px solid #1E4FA8', paddingLeft: 26, paddingTop: 16, flexDirection: 'column' }}&gt;&#10;        &lt;Text style={{ fontSize: 21, color: '#0E3F8C', fontWeight: 'bold', lineHeight: 1.5 }}&gt;结论先行：真实数据拿不到，所以本方向的工作重心从「找数据」转向「造数据 + 验证读得准」。&lt;/Text&gt;&#10;        &lt;Text style={{ fontSize: 14, color: '#8B97A8', marginTop: 6 }}&gt;依据：纪要「仅需明确项目可用的数据来源方向即可」；deck P119 已把数据可得性列为早期决策门槛&lt;/Text&gt;&#10;    &lt;/Box&gt;&#10;&#10;    &lt;Box style={{ position: 'absolute', top: 664, left: 96, width: 1088, flexDirection: 'row', justifyContent: 'space-between' }}&gt;&#10;        &lt;Text style={{ fontSize: 14, color: '#8B97A8' }}&gt;方向 E · 数据与实验可行性&lt;/Text&gt;&#10;        &lt;Text style={{ fontSize: 15, color: '#0E3F8C', fontWeight: 'bold' }}&gt;02 / 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14400" y="4572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01</a:t>
            </a:r>
            <a:r>
              <a:rPr lang="zh-CN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　起点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14400" y="7143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三条约束，决定了真实数据这条路走不通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914400" y="1123950"/>
            <a:ext cx="103632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14400" y="1314450"/>
            <a:ext cx="7086600" cy="513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这套系统要做的，是把合同、验收单、发票、收付款记录、银行流水、会计凭证放在一起交叉比对。前提是手里要有真实发生过的业务单据。这一轮查下来，三条约束把这条路基本堵住了。</a:t>
            </a:r>
            <a:endParaRPr/>
          </a:p>
          <a:p>
            <a:pPr>
              <a:lnSpc>
                <a:spcPct val="170000"/>
              </a:lnSpc>
            </a:pPr>
            <a:r>
              <a:rPr sz="1650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一、财务凭证是企业核心商业秘密。价格、账期、供应商本身就是经营信息，企业没有理由向学生团队开放。</a:t>
            </a:r>
            <a:endParaRPr/>
          </a:p>
          <a:p>
            <a:pPr>
              <a:lnSpc>
                <a:spcPct val="170000"/>
              </a:lnSpc>
            </a:pPr>
            <a:r>
              <a:rPr sz="1650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二、发票票面带姓名、纳税人识别号、开户行与账号，属于个人信息，脱敏不彻底等同于泄露。</a:t>
            </a:r>
            <a:endParaRPr/>
          </a:p>
          <a:p>
            <a:pPr>
              <a:lnSpc>
                <a:spcPct val="170000"/>
              </a:lnSpc>
            </a:pPr>
            <a:r>
              <a:rPr sz="1650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三、凭证与账簿受会计档案管理办法约束，有保管年限与调阅审批，企业内部人员也不能随意导出。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8382000" y="1314450"/>
            <a:ext cx="2895600" cy="3543300"/>
          </a:xfrm>
          <a:prstGeom prst="roundRect">
            <a:avLst>
              <a:gd name="adj" fmla="val 197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610600" y="1543050"/>
            <a:ext cx="2438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1E4FA8"/>
                </a:solidFill>
                <a:latin typeface="Source Han Sans SC"/>
                <a:ea typeface="Source Han Sans SC"/>
              </a:rPr>
              <a:t>三条约束叠加的结果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610600" y="1828800"/>
            <a:ext cx="381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610600" y="2009775"/>
            <a:ext cx="2438400" cy="7810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不是「</a:t>
            </a:r>
            <a:r>
              <a:rPr lang="zh-CN" sz="1500">
                <a:solidFill>
                  <a:srgbClr val="8B97A8"/>
                </a:solidFill>
                <a:latin typeface="Source Han Sans SC"/>
                <a:ea typeface="Source Han Sans SC"/>
              </a:rPr>
              <a:t>难拿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」，</a:t>
            </a:r>
            <a:endParaRPr/>
          </a:p>
          <a:p>
            <a:pPr>
              <a:lnSpc>
                <a:spcPct val="17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而是「</a:t>
            </a:r>
            <a:r>
              <a:rPr lang="zh-CN" sz="1500" b="1">
                <a:solidFill>
                  <a:srgbClr val="D9534F"/>
                </a:solidFill>
                <a:latin typeface="Source Han Sans SC"/>
                <a:ea typeface="Source Han Sans SC"/>
              </a:rPr>
              <a:t>拿不到授权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」。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610600" y="2962275"/>
            <a:ext cx="243840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这不是团队能力问题，是制度设计的结果。所以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 xml:space="preserve"> E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方向要回答的，不是「去哪找数据」，而是「没有真实数据，怎么证明系统有效」。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610600" y="4476750"/>
            <a:ext cx="24384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610600" y="4600575"/>
            <a:ext cx="2438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依据：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deck P119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　·　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10/14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会议纪要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952500" y="5143500"/>
            <a:ext cx="10325100" cy="742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914400" y="5143500"/>
            <a:ext cx="10363200" cy="742950"/>
          </a:xfrm>
          <a:custGeom>
            <a:pathLst>
              <a:path w="1088" h="78">
                <a:moveTo>
                  <a:pt x="0" y="0"/>
                </a:moveTo>
                <a:lnTo>
                  <a:pt x="4" y="0"/>
                </a:lnTo>
                <a:lnTo>
                  <a:pt x="4" y="78"/>
                </a:lnTo>
                <a:lnTo>
                  <a:pt x="0" y="7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200150" y="5295900"/>
            <a:ext cx="1007745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结论先行：真实数据拿不到，所以本方向的工作重心从「找数据」转向「造数据</a:t>
            </a:r>
            <a:r>
              <a:rPr lang="en-US" sz="1575" b="1">
                <a:solidFill>
                  <a:srgbClr val="0E3F8C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验证读得准」。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200150" y="5715000"/>
            <a:ext cx="1007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依据：纪要「仅需明确项目可用的数据来源方向即可」；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deck P119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已把数据可得性列为早期决策门槛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方向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E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数据与实验可行性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763250" y="63246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ource Han Sans SC"/>
                <a:ea typeface="Source Han Sans SC"/>
              </a:rPr>
              <a:t>02 / 07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style={{ width: 1280, height: 720, background: '#FFFFFF', position: 'relative', fontFamily: '&quot;Source Han Sans SC&quot;,&quot;Microsoft YaHei&quot;,sans-serif' }}&gt;&#10;    &lt;Box style={{ position: 'absolute', top: 0, left: 0, width: 1280, height: 8, background: '#1E4FA8' }} /&gt;&#10;&#10;    &lt;Box style={{ position: 'absolute', top: 48, left: 96, width: 1088, flexDirection: 'column' }}&gt;&#10;        &lt;Text style={{ fontSize: 14, color: '#8B97A8', letterSpacing: 2 }}&gt;02　方法&lt;/Text&gt;&#10;        &lt;Text style={{ fontSize: 34, fontWeight: 'bold', color: '#0E3F8C', marginTop: 10 }}&gt;四条替代路线并行，两条自己可控&lt;/Text&gt;&#10;    &lt;/Box&gt;&#10;    &lt;Box style={{ position: 'absolute', top: 118, left: 96, width: 1088, height: 2, background: '#D6DCE5' }} /&gt;&#10;&#10;    &lt;Box style={{ position: 'absolute', top: 132, left: 96, width: 1088, flexDirection: 'row', gap: 24 }}&gt;&#10;        &lt;Box style={{ width: 532, height: 212, background: '#FFFFFF', border: '1px solid #D6DCE5', borderLeft: '4px solid #3D7BD9', borderRadius: 4, padding: 24, flexDirection: 'column' }}&gt;&#10;            &lt;Box style={{ flexDirection: 'row', justifyContent: 'space-between', alignItems: 'center' }}&gt;&#10;                &lt;Text style={{ fontSize: 13, color: '#8B97A8', fontWeight: 'bold', letterSpacing: 1 }}&gt;路线 01&lt;/Text&gt;&#10;                &lt;Box style={{ background: '#F0F5FC', borderRadius: 3, paddingLeft: 9, paddingRight: 9, paddingTop: 3, paddingBottom: 3 }}&gt;&#10;                    &lt;Text style={{ fontSize: 12, color: '#3D7BD9' }}&gt;待查 · 低成本先试&lt;/Text&gt;&#10;                &lt;/Box&gt;&#10;            &lt;/Box&gt;&#10;            &lt;Text style={{ fontSize: 25, fontWeight: 'bold', color: '#0E3F8C', marginTop: 12 }}&gt;河海官方数据库&lt;/Text&gt;&#10;            &lt;Text style={{ fontSize: 17, color: '#4A5568', lineHeight: 1.7, marginTop: 10 }}&gt;先看学校自己有没有现成的数据平台或数据库，能直接调用的就不用去外面求人。&lt;/Text&gt;&#10;        &lt;/Box&gt;&#10;        &lt;Box style={{ width: 532, height: 212, background: '#FFFFFF', border: '1px solid #D6DCE5', borderLeft: '4px solid #3D7BD9', borderRadius: 4, padding: 24, flexDirection: 'column' }}&gt;&#10;            &lt;Box style={{ flexDirection: 'row', justifyContent: 'space-between', alignItems: 'center' }}&gt;&#10;                &lt;Text style={{ fontSize: 13, color: '#8B97A8', fontWeight: 'bold', letterSpacing: 1 }}&gt;路线 02&lt;/Text&gt;&#10;                &lt;Box style={{ background: '#FDF5F5', borderRadius: 3, paddingLeft: 9, paddingRight: 9, paddingTop: 3, paddingBottom: 3 }}&gt;&#10;                    &lt;Text style={{ fontSize: 12, color: '#D9534F' }}&gt;待启动 · 不进关键路径&lt;/Text&gt;&#10;                &lt;/Box&gt;&#10;            &lt;/Box&gt;&#10;            &lt;Text style={{ fontSize: 25, fontWeight: 'bold', color: '#0E3F8C', marginTop: 12 }}&gt;校企合作企业（脱敏）&lt;/Text&gt;&#10;            &lt;Text style={{ fontSize: 17, color: '#4A5568', lineHeight: 1.7, marginTop: 10 }}&gt;走指导教师与校友渠道，先要访谈，再要素例单据，最后争取一份意向。审批不在我们手上。&lt;/Text&gt;&#10;        &lt;/Box&gt;&#10;    &lt;/Box&gt;&#10;&#10;    &lt;Box style={{ position: 'absolute', top: 364, left: 96, width: 1088, flexDirection: 'row', gap: 24 }}&gt;&#10;        &lt;Box style={{ width: 532, height: 212, background: '#FFFFFF', border: '1px solid #D6DCE5', borderLeft: '4px solid #3D7BD9', borderRadius: 4, padding: 24, flexDirection: 'column' }}&gt;&#10;            &lt;Box style={{ flexDirection: 'row', justifyContent: 'space-between', alignItems: 'center' }}&gt;&#10;                &lt;Text style={{ fontSize: 13, color: '#8B97A8', fontWeight: 'bold', letterSpacing: 1 }}&gt;路线 03&lt;/Text&gt;&#10;                &lt;Box style={{ background: '#E8F5EE', borderRadius: 3, paddingLeft: 9, paddingRight: 9, paddingTop: 3, paddingBottom: 3 }}&gt;&#10;                    &lt;Text style={{ fontSize: 12, color: '#1D7A55' }}&gt;已初盘 · 负责人认可&lt;/Text&gt;&#10;                &lt;/Box&gt;&#10;            &lt;/Box&gt;&#10;            &lt;Text style={{ fontSize: 25, fontWeight: 'bold', color: '#0E3F8C', marginTop: 12 }}&gt;外网公开数据集&lt;/Text&gt;&#10;            &lt;Text style={{ fontSize: 17, color: '#4A5568', lineHeight: 1.7, marginTop: 10 }}&gt;HuggingFace、Kaggle、Papers with Code 逐项核许可与可下载性，共初盘 9 个来源。&lt;/Text&gt;&#10;        &lt;/Box&gt;&#10;        &lt;Box style={{ width: 532, height: 212, background: '#0E3F8C', borderRadius: 4, padding: 24, flexDirection: 'column' }}&gt;&#10;            &lt;Box style={{ flexDirection: 'row', justifyContent: 'space-between', alignItems: 'center' }}&gt;&#10;                &lt;Text style={{ fontSize: 13, color: '#B5D4F4', fontWeight: 'bold', letterSpacing: 1 }}&gt;路线 04&lt;/Text&gt;&#10;                &lt;Box style={{ background: '#1E4FA8', borderRadius: 3, paddingLeft: 9, paddingRight: 9, paddingTop: 3, paddingBottom: 3 }}&gt;&#10;                    &lt;Text style={{ fontSize: 12, color: '#FFFFFF' }}&gt;优先做 · 最省力&lt;/Text&gt;&#10;                &lt;/Box&gt;&#10;            &lt;/Box&gt;&#10;            &lt;Text style={{ fontSize: 25, fontWeight: 'bold', color: '#FFFFFF', marginTop: 12 }}&gt;反查同类工作的数据来源&lt;/Text&gt;&#10;            &lt;Text style={{ fontSize: 17, color: '#DCE8F8', lineHeight: 1.7, marginTop: 10 }}&gt;不看别人怎么写结论，只看他们用什么数据。别人踩过的坑，比自己搜十页都有用。&lt;/Text&gt;&#10;        &lt;/Box&gt;&#10;    &lt;/Box&gt;&#10;&#10;    &lt;Box style={{ position: 'absolute', top: 592, left: 96, width: 1088, height: 46, background: '#F7F9FC', borderLeft: '4px solid #FFC107', paddingLeft: 22, justifyContent: 'center' }}&gt;&#10;        &lt;Text style={{ fontSize: 18, color: '#1A2230' }}&gt;03、04 由我们自己推进；01、02 的审批权在别人手上——所以它们只能是&lt;span style={{ fontWeight: 'bold' }}&gt;并行项&lt;/span&gt;，不能是&lt;span style={{ fontWeight: 'bold' }}&gt;前置项&lt;/span&gt;。&lt;/Text&gt;&#10;    &lt;/Box&gt;&#10;&#10;    &lt;Box style={{ position: 'absolute', top: 664, left: 96, width: 1088, flexDirection: 'row', justifyContent: 'space-between' }}&gt;&#10;        &lt;Text style={{ fontSize: 14, color: '#8B97A8' }}&gt;方向 E · 数据与实验可行性&lt;/Text&gt;&#10;        &lt;Text style={{ fontSize: 15, color: '#0E3F8C', fontWeight: 'bold' }}&gt;03 / 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14400" y="4572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02</a:t>
            </a:r>
            <a:r>
              <a:rPr lang="zh-CN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　方法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14400" y="7143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四条替代路线并行，两条自己可控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914400" y="1123950"/>
            <a:ext cx="103632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952500" y="1257300"/>
            <a:ext cx="5029200" cy="201930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952500" y="1257300"/>
            <a:ext cx="5029200" cy="2019300"/>
          </a:xfrm>
          <a:custGeom>
            <a:pathLst>
              <a:path w="528" h="212">
                <a:moveTo>
                  <a:pt x="4" y="212"/>
                </a:moveTo>
                <a:cubicBezTo>
                  <a:pt x="2" y="212"/>
                  <a:pt x="0" y="210"/>
                  <a:pt x="0" y="20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2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81100" y="15144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>路线</a:t>
            </a:r>
            <a:r>
              <a:rPr lang="en-US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01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686300" y="1485900"/>
            <a:ext cx="1066800" cy="200025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772025" y="1514475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D7BD9"/>
                </a:solidFill>
                <a:latin typeface="Source Han Sans SC"/>
                <a:ea typeface="Source Han Sans SC"/>
              </a:rPr>
              <a:t>待查</a:t>
            </a:r>
            <a:r>
              <a:rPr lang="en-US" sz="900">
                <a:solidFill>
                  <a:srgbClr val="3D7BD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00">
                <a:solidFill>
                  <a:srgbClr val="3D7BD9"/>
                </a:solidFill>
                <a:latin typeface="Source Han Sans SC"/>
                <a:ea typeface="Source Han Sans SC"/>
              </a:rPr>
              <a:t>低成本先试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81100" y="1800225"/>
            <a:ext cx="4572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河海官方数据库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81100" y="2181225"/>
            <a:ext cx="4572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先看学校自己有没有现成的数据平台或数据库，能直接调用的就不用去外面求人。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248400" y="1257300"/>
            <a:ext cx="5029200" cy="201930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248400" y="1257300"/>
            <a:ext cx="5029200" cy="2019300"/>
          </a:xfrm>
          <a:custGeom>
            <a:pathLst>
              <a:path w="528" h="212">
                <a:moveTo>
                  <a:pt x="4" y="212"/>
                </a:moveTo>
                <a:cubicBezTo>
                  <a:pt x="2" y="212"/>
                  <a:pt x="0" y="210"/>
                  <a:pt x="0" y="20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2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477000" y="15144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>路线</a:t>
            </a:r>
            <a:r>
              <a:rPr lang="en-US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02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9753600" y="1485900"/>
            <a:ext cx="1295400" cy="200025"/>
          </a:xfrm>
          <a:prstGeom prst="roundRect">
            <a:avLst>
              <a:gd name="adj" fmla="val 14286"/>
            </a:avLst>
          </a:prstGeom>
          <a:solidFill>
            <a:srgbClr val="FDF5F5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839325" y="1514475"/>
            <a:ext cx="1123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9534F"/>
                </a:solidFill>
                <a:latin typeface="Source Han Sans SC"/>
                <a:ea typeface="Source Han Sans SC"/>
              </a:rPr>
              <a:t>待启动</a:t>
            </a:r>
            <a:r>
              <a:rPr lang="en-US" sz="900">
                <a:solidFill>
                  <a:srgbClr val="D9534F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00">
                <a:solidFill>
                  <a:srgbClr val="D9534F"/>
                </a:solidFill>
                <a:latin typeface="Source Han Sans SC"/>
                <a:ea typeface="Source Han Sans SC"/>
              </a:rPr>
              <a:t>不进关键路径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477000" y="1800225"/>
            <a:ext cx="4572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校企合作企业（脱敏）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477000" y="2181225"/>
            <a:ext cx="4572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走指导教师与校友渠道，先要访谈，再要素例单据，最后争取一份意向。审批不在我们手上。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952500" y="3467100"/>
            <a:ext cx="5029200" cy="201930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952500" y="3467100"/>
            <a:ext cx="5029200" cy="2019300"/>
          </a:xfrm>
          <a:custGeom>
            <a:pathLst>
              <a:path w="528" h="212">
                <a:moveTo>
                  <a:pt x="4" y="212"/>
                </a:moveTo>
                <a:cubicBezTo>
                  <a:pt x="2" y="212"/>
                  <a:pt x="0" y="210"/>
                  <a:pt x="0" y="20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2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81100" y="37242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>路线</a:t>
            </a:r>
            <a:r>
              <a:rPr lang="en-US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03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572000" y="3695700"/>
            <a:ext cx="1181100" cy="200025"/>
          </a:xfrm>
          <a:prstGeom prst="roundRect">
            <a:avLst>
              <a:gd name="adj" fmla="val 14286"/>
            </a:avLst>
          </a:prstGeom>
          <a:solidFill>
            <a:srgbClr val="E8F5EE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657725" y="372427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D7A55"/>
                </a:solidFill>
                <a:latin typeface="Source Han Sans SC"/>
                <a:ea typeface="Source Han Sans SC"/>
              </a:rPr>
              <a:t>已初盘</a:t>
            </a:r>
            <a:r>
              <a:rPr lang="en-US" sz="900">
                <a:solidFill>
                  <a:srgbClr val="1D7A55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00">
                <a:solidFill>
                  <a:srgbClr val="1D7A55"/>
                </a:solidFill>
                <a:latin typeface="Source Han Sans SC"/>
                <a:ea typeface="Source Han Sans SC"/>
              </a:rPr>
              <a:t>负责人认可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81100" y="4010025"/>
            <a:ext cx="4572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Source Han Sans SC"/>
                <a:ea typeface="Source Han Sans SC"/>
              </a:rPr>
              <a:t>外网公开数据集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81100" y="4391025"/>
            <a:ext cx="4572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HuggingFace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、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Kaggle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、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 xml:space="preserve">Papers with Code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逐项核许可与可下载性，共初盘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 xml:space="preserve"> 9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个来源。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210300" y="3467100"/>
            <a:ext cx="5067300" cy="2019300"/>
          </a:xfrm>
          <a:prstGeom prst="roundRect">
            <a:avLst>
              <a:gd name="adj" fmla="val 188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438900" y="3724275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B5D4F4"/>
                </a:solidFill>
                <a:latin typeface="Source Han Sans SC"/>
                <a:ea typeface="Source Han Sans SC"/>
              </a:rPr>
              <a:t>路线</a:t>
            </a:r>
            <a:r>
              <a:rPr lang="en-US" sz="975" b="1" spc="75">
                <a:solidFill>
                  <a:srgbClr val="B5D4F4"/>
                </a:solidFill>
                <a:latin typeface="Source Han Sans SC"/>
                <a:ea typeface="Source Han Sans SC"/>
              </a:rPr>
              <a:t xml:space="preserve"> 04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10096500" y="3695700"/>
            <a:ext cx="952500" cy="200025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0182225" y="372427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Source Han Sans SC"/>
                <a:ea typeface="Source Han Sans SC"/>
              </a:rPr>
              <a:t>优先做</a:t>
            </a:r>
            <a:r>
              <a:rPr lang="en-US" sz="900">
                <a:solidFill>
                  <a:srgbClr val="FFFFFF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00">
                <a:solidFill>
                  <a:srgbClr val="FFFFFF"/>
                </a:solidFill>
                <a:latin typeface="Source Han Sans SC"/>
                <a:ea typeface="Source Han Sans SC"/>
              </a:rPr>
              <a:t>最省力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438900" y="4010025"/>
            <a:ext cx="46101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Source Han Sans SC"/>
                <a:ea typeface="Source Han Sans SC"/>
              </a:rPr>
              <a:t>反查同类工作的数据来源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438900" y="4391025"/>
            <a:ext cx="46101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DCE8F8"/>
                </a:solidFill>
                <a:latin typeface="Source Han Sans SC"/>
                <a:ea typeface="Source Han Sans SC"/>
              </a:rPr>
              <a:t>不看别人怎么写结论，只看他们用什么数据。别人踩过的坑，比自己搜十页都有用。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952500" y="5638800"/>
            <a:ext cx="10325100" cy="438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914400" y="5638800"/>
            <a:ext cx="10363200" cy="438150"/>
          </a:xfrm>
          <a:custGeom>
            <a:pathLst>
              <a:path w="1088" h="46">
                <a:moveTo>
                  <a:pt x="0" y="0"/>
                </a:moveTo>
                <a:lnTo>
                  <a:pt x="4" y="0"/>
                </a:lnTo>
                <a:lnTo>
                  <a:pt x="4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62050" y="5753100"/>
            <a:ext cx="1011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03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04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由我们自己推进；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01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02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的审批权在别人手上——所以它们只能是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并行项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，不能是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前置项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方向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E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数据与实验可行性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0763250" y="63246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ource Han Sans SC"/>
                <a:ea typeface="Source Han Sans SC"/>
              </a:rPr>
              <a:t>03 / 07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91" name="" descr="&lt;Slide style={{ width: 1280, height: 720, background: '#FFFFFF', position: 'relative', fontFamily: '&quot;Source Han Sans SC&quot;,&quot;Microsoft YaHei&quot;,sans-serif' }}&gt;&#13;&#10;    &lt;Box style={{ position: 'absolute', top: 0, left: 0, width: 1280, height: 8, background: '#1E4FA8' }} /&gt;&#13;&#10;&#13;&#10;    &lt;Box style={{ position: 'absolute', top: 48, left: 96, width: 1088, flexDirection: 'column' }}&gt;&#13;&#10;        &lt;Text style={{ fontSize: 14, color: '#8B97A8', letterSpacing: 2 }}&gt;03　对齐　·　10/21 沟通&lt;/Text&gt;&#13;&#10;        &lt;Text style={{ fontSize: 34, fontWeight: 'bold', color: '#0E3F8C', marginTop: 10 }}&gt;一句话改变了做法：先看别人从哪来数据&lt;/Text&gt;&#13;&#10;    &lt;/Box&gt;&#13;&#10;    &lt;Box style={{ position: 'absolute', top: 118, left: 96, width: 1088, height: 2, background: '#D6DCE5' }} /&gt;&#13;&#10;&#13;&#10;    &lt;Box style={{ position: 'absolute', top: 134, left: 96, width: 510, height: 424, background: '#F7F9FC', border: '1px solid #D6DCE5', borderRadius: 6, padding: 26, flexDirection: 'column' }}&gt;&#13;&#10;        &lt;Box style={{ flexDirection: 'row', alignItems: 'center' }}&gt;&#13;&#10;            &lt;Box style={{ width: 4, height: 20, background: '#8B97A8' }} /&gt;&#13;&#10;            &lt;Text style={{ fontSize: 22, fontWeight: 'bold', color: '#1A2230', marginLeft: 12 }}&gt;负责人怎么说&lt;/Text&gt;&#13;&#10;        &lt;/Box&gt;&#13;&#10;        &lt;Text style={{ fontSize: 14, color: '#8B97A8', marginTop: 10 }}&gt;10/21 22:07　原话摘录&lt;/Text&gt;&#13;&#10;        &lt;Box style={{ width: 458, height: 1, background: '#E5E7EB', marginTop: 14, marginBottom: 16 }} /&gt;&#13;&#10;        &lt;Box style={{ flexDirection: 'column', gap: 16 }}&gt;&#13;&#10;            &lt;Box style={{ flexDirection: 'column' }}&gt;&#13;&#10;                &lt;Text style={{ fontSize: 18, color: '#1A2230', lineHeight: 1.6 }}&gt;「确实财务数据比较难获取」&lt;/Text&gt;&#13;&#10;                &lt;Text style={{ fontSize: 14, color: '#8B97A8', marginTop: 4 }}&gt;先确认了：约束是真的，不是我找得不够&lt;/Text&gt;&#13;&#10;            &lt;/Box&gt;&#13;&#10;            &lt;Box style={{ flexDirection: 'column' }}&gt;&#13;&#10;                &lt;Text style={{ fontSize: 18, color: '#1A2230', lineHeight: 1.6 }}&gt;「你看看有没有什么替代方法」&lt;/Text&gt;&#13;&#10;                &lt;Text style={{ fontSize: 14, color: '#8B97A8', marginTop: 4 }}&gt;不要停在&quot;拿不到&quot;，要给出替代路径&lt;/Text&gt;&#13;&#10;            &lt;/Box&gt;&#13;&#10;            &lt;Box style={{ flexDirection: 'column' }}&gt;&#13;&#10;                &lt;Text style={{ fontSize: 18, color: '#1A2230', lineHeight: 1.6 }}&gt;「比如说像你说的这种公开数据集」&lt;/Text&gt;&#13;&#10;                &lt;Text style={{ fontSize: 14, color: '#8B97A8', marginTop: 4 }}&gt;给了一个明确可执行的方向&lt;/Text&gt;&#13;&#10;            &lt;/Box&gt;&#13;&#10;            &lt;Box style={{ flexDirection: 'column' }}&gt;&#13;&#10;                &lt;Text style={{ fontSize: 18, color: '#0E3F8C', fontWeight: 'bold', lineHeight: 1.6 }}&gt;「可以看一下其他的，他们是从哪里来的数据」&lt;/Text&gt;&#13;&#10;                &lt;Text style={{ fontSize: 14, color: '#1E4FA8', marginTop: 4 }}&gt;这条最关键——先抄作业，别自己从零硬找&lt;/Text&gt;&#13;&#10;            &lt;/Box&gt;&#13;&#10;        &lt;/Box&gt;&#13;&#10;    &lt;/Box&gt;&#13;&#10;&#13;&#10;    &lt;Box style={{ position: 'absolute', top: 320, left: 616, width: 48, height: 48, alignItems: 'center', justifyContent: 'center' }}&gt;&#13;&#10;        &lt;Text style={{ fontSize: 30, color: '#1E4FA8', fontWeight: 'bold' }}&gt;→&lt;/Text&gt;&#13;&#10;    &lt;/Box&gt;&#13;&#10;&#13;&#10;    &lt;Box style={{ position: 'absolute', top: 134, left: 672, width: 512, height: 424, background: '#FFFFFF', border: '1px solid #D6DCE5', borderTop: '3px solid #1E4FA8', borderRadius: 6, padding: 26, flexDirection: 'column' }}&gt;&#13;&#10;        &lt;Box style={{ flexDirection: 'row', alignItems: 'center' }}&gt;&#13;&#10;            &lt;Box style={{ width: 4, height: 20, background: '#1E4FA8' }} /&gt;&#13;&#10;            &lt;Text style={{ fontSize: 22, fontWeight: 'bold', color: '#0E3F8C', marginLeft: 12 }}&gt;所以我把做法改成&lt;/Text&gt;&#13;&#10;        &lt;/Box&gt;&#13;&#10;        &lt;Text style={{ fontSize: 14, color: '#8B97A8', marginTop: 10 }}&gt;对应上面每一条的落地动作&lt;/Text&gt;&#13;&#10;        &lt;Box style={{ width: 460, height: 1, background: '#E5E7EB', marginTop: 14, marginBottom: 12 }} /&gt;&#13;&#10;        &lt;Box style={{ flexDirection: 'column', gap: 12 }}&gt;&#13;&#10;            &lt;Box style={{ flexDirection: 'row' }}&gt;&#13;&#10;                &lt;Text style={{ fontSize: 15, color: '#1E4FA8', fontWeight: 'bold', width: 26 }}&gt;01&lt;/Text&gt;&#13;&#10;                &lt;Text style={{ fontSize: 18, color: '#1A2230', lineHeight: 1.55, width: 434 }}&gt;不再论证&quot;要真实数据&quot;，改成论证&quot;没有真实数据也能验证系统&quot;&lt;/Text&gt;&#13;&#10;            &lt;/Box&gt;&#13;&#10;            &lt;Box style={{ flexDirection: 'row' }}&gt;&#13;&#10;                &lt;Text style={{ fontSize: 15, color: '#1E4FA8', fontWeight: 'bold', width: 26 }}&gt;02&lt;/Text&gt;&#13;&#10;                &lt;Text style={{ fontSize: 18, color: '#1A2230', lineHeight: 1.55, width: 434 }}&gt;主线定&lt;span style={{ fontWeight: 'bold' }}&gt;合成数据&lt;/span&gt;，公开数据只负责验证&quot;读得准&quot;，两组结果分开报&lt;/Text&gt;&#13;&#10;            &lt;/Box&gt;&#13;&#10;            &lt;Box style={{ flexDirection: 'row' }}&gt;&#13;&#10;                &lt;Text style={{ fontSize: 15, color: '#1E4FA8', fontWeight: 'bold', width: 26 }}&gt;03&lt;/Text&gt;&#13;&#10;                &lt;Text style={{ fontSize: 18, color: '#1A2230', lineHeight: 1.55, width: 434 }}&gt;公开数据集逐项核许可：CORD 等多为 CC BY-NC，只能内部评测&lt;/Text&gt;&#13;&#10;            &lt;/Box&gt;&#13;&#10;            &lt;Box style={{ flexDirection: 'row' }}&gt;&#13;&#10;                &lt;Text style={{ fontSize: 15, color: '#1E4FA8', fontWeight: 'bold', width: 26 }}&gt;04&lt;/Text&gt;&#13;&#10;                &lt;Text style={{ fontSize: 18, color: '#0E3F8C', fontWeight: 'bold', lineHeight: 1.55, width: 434 }}&gt;新增一条检索动作：反查同类论文与开源项目的&quot;数据来源&quot;章节&lt;/Text&gt;&#13;&#10;            &lt;/Box&gt;&#13;&#10;        &lt;/Box&gt;&#13;&#10;    &lt;/Box&gt;&#13;&#10;&#13;&#10;    &lt;Box style={{ position: 'absolute', top: 590, left: 96, width: 1088, height: 58, background: '#E8EFF8', borderLeft: '4px solid #1E4FA8', paddingLeft: 22, justifyContent: 'center' }}&gt;&#13;&#10;        &lt;Text style={{ fontSize: 19, color: '#0E3F8C', fontWeight: 'bold' }}&gt;实事求是说：这句话比我自己搜两天都管用——它把&quot;硬找&quot;换成了&quot;先看别人怎么解&quot;。&lt;/Text&gt;&#13;&#10;    &lt;/Box&gt;&#13;&#10;&#13;&#10;    &lt;Box style={{ position: 'absolute', top: 664, left: 96, width: 1088, flexDirection: 'row', justifyContent: 'space-between' }}&gt;&#13;&#10;        &lt;Text style={{ fontSize: 14, color: '#8B97A8' }}&gt;方向 E · 数据与实验可行性&lt;/Text&gt;&#13;&#10;        &lt;Text style={{ fontSize: 15, color: '#0E3F8C', fontWeight: 'bold' }}&gt;04 / 0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14400" y="4572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03</a:t>
            </a:r>
            <a:r>
              <a:rPr lang="zh-CN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　对齐　·　</a:t>
            </a:r>
            <a:r>
              <a:rPr lang="en-US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10/21 </a:t>
            </a:r>
            <a:r>
              <a:rPr lang="zh-CN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沟通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14400" y="7143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一句话改变了做法：先看别人从哪来数据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914400" y="1123950"/>
            <a:ext cx="103632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914400" y="1276350"/>
            <a:ext cx="4857750" cy="4038600"/>
          </a:xfrm>
          <a:prstGeom prst="roundRect">
            <a:avLst>
              <a:gd name="adj" fmla="val 141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1162050" y="1562100"/>
            <a:ext cx="38100" cy="190500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314450" y="1524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负责人怎么说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62050" y="187642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10/21 22:07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　原话摘录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1162050" y="2171700"/>
            <a:ext cx="43624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62050" y="2333625"/>
            <a:ext cx="43624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「确实财务数据比较难获取」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62050" y="270510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先确认了：约束是真的，不是我找得不够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62050" y="3019425"/>
            <a:ext cx="43624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「你看看有没有什么替代方法」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62050" y="339090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不要停在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拿不到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，要给出替代路径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62050" y="3705225"/>
            <a:ext cx="43624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「比如说像你说的这种公开数据集」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62050" y="407670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给了一个明确可执行的方向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62050" y="4391025"/>
            <a:ext cx="43624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「可以看一下其他的，他们是从哪里来的数据」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62050" y="476250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Source Han Sans SC"/>
                <a:ea typeface="Source Han Sans SC"/>
              </a:rPr>
              <a:t>这条最关键——先抄作业，别自己从零硬找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953125" y="3105150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1E4FA8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400800" y="1304925"/>
            <a:ext cx="4876800" cy="4010025"/>
          </a:xfrm>
          <a:prstGeom prst="roundRect">
            <a:avLst>
              <a:gd name="adj" fmla="val 14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6400800" y="1304925"/>
            <a:ext cx="4876800" cy="4010025"/>
          </a:xfrm>
          <a:custGeom>
            <a:pathLst>
              <a:path w="512" h="421">
                <a:moveTo>
                  <a:pt x="506" y="0"/>
                </a:moveTo>
                <a:cubicBezTo>
                  <a:pt x="509" y="0"/>
                  <a:pt x="512" y="2"/>
                  <a:pt x="512" y="5"/>
                </a:cubicBezTo>
                <a:cubicBezTo>
                  <a:pt x="511" y="4"/>
                  <a:pt x="510" y="3"/>
                  <a:pt x="509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506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6648450" y="1590675"/>
            <a:ext cx="38100" cy="190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800850" y="155257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所以我把做法改成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648450" y="1905000"/>
            <a:ext cx="438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对应上面每一条的落地动作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648450" y="2200275"/>
            <a:ext cx="4381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648450" y="2324100"/>
            <a:ext cx="247650" cy="638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896100" y="2324100"/>
            <a:ext cx="41338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不再论证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要真实数据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，改成论证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没有真实数据也能验证系统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648450" y="3076575"/>
            <a:ext cx="247650" cy="638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896100" y="3076575"/>
            <a:ext cx="41338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主线定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合成数据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，公开数据只负责验证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读得准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，两组结果分开报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648450" y="3829050"/>
            <a:ext cx="247650" cy="638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896100" y="3829050"/>
            <a:ext cx="41338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公开数据集逐项核许可：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CORD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等多为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CC BY-NC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，只能内部评测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648450" y="4581525"/>
            <a:ext cx="247650" cy="638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896100" y="4581525"/>
            <a:ext cx="41338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新增一条检索动作：反查同类论文与开源项目的</a:t>
            </a: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数据来源</a:t>
            </a: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章节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952500" y="5619750"/>
            <a:ext cx="10325100" cy="552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914400" y="5619750"/>
            <a:ext cx="10363200" cy="552450"/>
          </a:xfrm>
          <a:custGeom>
            <a:pathLst>
              <a:path w="1088" h="58">
                <a:moveTo>
                  <a:pt x="0" y="0"/>
                </a:moveTo>
                <a:lnTo>
                  <a:pt x="4" y="0"/>
                </a:lnTo>
                <a:lnTo>
                  <a:pt x="4" y="58"/>
                </a:lnTo>
                <a:lnTo>
                  <a:pt x="0" y="5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62050" y="5791200"/>
            <a:ext cx="10115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实事求是说：这句话比我自己搜两天都管用——它把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硬找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换成了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先看别人怎么解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方向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E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数据与实验可行性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763250" y="63246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ource Han Sans SC"/>
                <a:ea typeface="Source Han Sans SC"/>
              </a:rPr>
              <a:t>04 / 07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0" name="" descr="&lt;Slide style={{ width: 1280, height: 720, background: '#FFFFFF', position: 'relative', fontFamily: '&quot;Source Han Sans SC&quot;,&quot;Microsoft YaHei&quot;,sans-serif' }}&gt;&#10;    &lt;Box style={{ position: 'absolute', top: 0, left: 0, width: 1280, height: 8, background: '#1E4FA8' }} /&gt;&#10;&#10;    &lt;Box style={{ position: 'absolute', top: 48, left: 96, width: 1088, flexDirection: 'column' }}&gt;&#10;        &lt;Text style={{ fontSize: 14, color: '#8B97A8', letterSpacing: 2 }}&gt;04　证据　·　初盘&lt;/Text&gt;&#10;        &lt;Text style={{ fontSize: 34, fontWeight: 'bold', color: '#0E3F8C', marginTop: 10 }}&gt;九个来源初盘：能用的都集中在&quot;读得出&quot;这一段&lt;/Text&gt;&#10;    &lt;/Box&gt;&#10;    &lt;Box style={{ position: 'absolute', top: 118, left: 96, width: 1088, height: 2, background: '#D6DCE5' }} /&gt;&#10;&#10;    &lt;Box style={{ position: 'absolute', top: 130, left: 96, width: 1088, height: 424 }}&gt;&#10;        &lt;Table&#10;            style={{ width: '100%', height: '100%' }}&#10;            defaultTextStyle={{ fontSize: 17, textAlign: 'center', color: '#1A2230' }}&#10;            defaultCellStyle={{ border: { left: { width: 1, color: '#E5E7EB' }, right: { width: 1, color: '#E5E7EB' }, top: { width: 1, color: '#E5E7EB' }, bottom: { width: 1, color: '#E5E7EB' } } }}&#10;            cells={[&#10;                [&#10;                    { text: '来源 / 名称', textStyle: { bold: true, color: '#FFFFFF', fontSize: 17 }, cellStyle: { background: { color: '#0E3F8C' } } },&#10;                    { text: '覆盖环节', textStyle: { bold: true, color: '#FFFFFF', fontSize: 17 }, cellStyle: { background: { color: '#0E3F8C' } } },&#10;                    { text: '许可状态', textStyle: { bold: true, color: '#FFFFFF', fontSize: 17 }, cellStyle: { background: { color: '#0E3F8C' } } },&#10;                    { text: '本轮判断', textStyle: { bold: true, color: '#FFFFFF', fontSize: 17 }, cellStyle: { background: { color: '#0E3F8C' } } }&#10;                ],&#10;                ['SROIE', '解析 · 收据', '研究用途，待核验', '可做解析评测'],&#10;                [{ text: 'CORD', cellStyle: { background: { color: '#F7F9FC' } } }, { text: '解析 · 字段抽取', cellStyle: { background: { color: '#F7F9FC' } } }, { text: 'CC BY-NC 居多', textStyle: { color: '#D9534F' }, cellStyle: { background: { color: '#F7F9FC' } } }, { text: '可评测，禁商用', cellStyle: { background: { color: '#F7F9FC' } } }],&#10;                ['FUNSD', '解析 · 表单', '待核验', '可做解析评测'],&#10;                [{ text: 'XFUND', cellStyle: { background: { color: '#F7F9FC' } } }, { text: '解析 · 中文表单', cellStyle: { background: { color: '#F7F9FC' } } }, { text: '待核验', cellStyle: { background: { color: '#F7F9FC' } } }, { text: '中文表单可用', cellStyle: { background: { color: '#F7F9FC' } } }],&#10;                ['DocVQA', '解析 · 文档理解', '待核验', '参考价值'],&#10;                [{ text: 'PubLayNet / DocBank', cellStyle: { background: { color: '#F7F9FC' } } }, { text: '解析 · 版面分析', cellStyle: { background: { color: '#F7F9FC' } } }, { text: '待核验', cellStyle: { background: { color: '#F7F9FC' } } }, { text: '训练版面模型', cellStyle: { background: { color: '#F7F9FC' } } }],&#10;                ['AAER（SEC）', '业务 · 舞弊案例', '公开', '理解&quot;什么是异常&quot;'],&#10;                [{ text: '中文数电票样本', textStyle: { color: '#D9534F', bold: true }, cellStyle: { background: { color: '#FDF5F5' } } }, { text: '解析', textStyle: { color: '#D9534F' }, cellStyle: { background: { color: '#FDF5F5' } } }, { text: '授权不明（爬取）', textStyle: { color: '#D9534F', bold: true }, cellStyle: { background: { color: '#FDF5F5' } } }, { text: '不纳入数据池', textStyle: { color: '#D9534F', bold: true }, cellStyle: { background: { color: '#FDF5F5' } } }],&#10;                [{ text: '校企 / 学校脱敏数据', textStyle: { bold: true }, cellStyle: { background: { color: '#E8EFF8' } } }, { text: '全链路', cellStyle: { background: { color: '#E8EFF8' } } }, { text: '需书面授权', cellStyle: { background: { color: '#E8EFF8' } } }, { text: '并行争取', textStyle: { bold: true, color: '#1E4FA8' }, cellStyle: { background: { color: '#E8EFF8' } } }]&#10;            ]}&#10;        /&gt;&#10;    &lt;/Box&gt;&#10;&#10;    &lt;Box style={{ position: 'absolute', top: 574, left: 96, width: 1088, height: 64, background: '#E8EFF8', borderLeft: '4px solid #1E4FA8', paddingLeft: 22, flexDirection: 'column', justifyContent: 'center' }}&gt;&#10;        &lt;Text style={{ fontSize: 19, color: '#0E3F8C', fontWeight: 'bold' }}&gt;九个来源里，八个只能支撑&quot;读得出&quot;，没有一个能支撑&quot;对得上&quot;。&lt;/Text&gt;&#10;        &lt;Text style={{ fontSize: 14, color: '#8B97A8', marginTop: 5 }}&gt;这是初步判断，不是结论；许可状态栏凡标&quot;待核验&quot;的，都要逐个打开原始页面确认&lt;/Text&gt;&#10;    &lt;/Box&gt;&#10;&#10;    &lt;Box style={{ position: 'absolute', top: 664, left: 96, width: 1088, flexDirection: 'row', justifyContent: 'space-between' }}&gt;&#10;        &lt;Text style={{ fontSize: 14, color: '#8B97A8' }}&gt;方向 E · 数据与实验可行性&lt;/Text&gt;&#10;        &lt;Text style={{ fontSize: 15, color: '#0E3F8C', fontWeight: 'bold' }}&gt;05 / 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14400" y="4572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04</a:t>
            </a:r>
            <a:r>
              <a:rPr lang="zh-CN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　证据　·　初盘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14400" y="7143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九个来源初盘：能用的都集中在</a:t>
            </a:r>
            <a:r>
              <a:rPr lang="en-US" sz="255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读得出</a:t>
            </a:r>
            <a:r>
              <a:rPr lang="en-US" sz="255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这一段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914400" y="1123950"/>
            <a:ext cx="103632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graphicFrame>
        <p:nvGraphicFramePr>
          <p:cNvPr id="136" name=""/>
          <p:cNvGraphicFramePr/>
          <p:nvPr/>
        </p:nvGraphicFramePr>
        <p:xfrm rot="0" flipH="0" flipV="0">
          <a:off x="914400" y="1238250"/>
          <a:ext cx="10363200" cy="4038600"/>
        </p:xfrm>
        <a:graphic>
          <a:graphicData uri="http://schemas.openxmlformats.org/drawingml/2006/table">
            <a:tbl>
              <a:tblGrid>
                <a:gridCol w="3233785">
                  <a:extLst>
                    <a:ext uri="{9D8B030D-6E8A-4147-A177-3AD203B41FA5}">
                      <a16:colId val="1"/>
                    </a:ext>
                  </a:extLst>
                </a:gridCol>
                <a:gridCol w="2170717">
                  <a:extLst>
                    <a:ext uri="{9D8B030D-6E8A-4147-A177-3AD203B41FA5}">
                      <a16:colId val="2"/>
                    </a:ext>
                  </a:extLst>
                </a:gridCol>
                <a:gridCol w="2496496">
                  <a:extLst>
                    <a:ext uri="{9D8B030D-6E8A-4147-A177-3AD203B41FA5}">
                      <a16:colId val="3"/>
                    </a:ext>
                  </a:extLst>
                </a:gridCol>
                <a:gridCol w="246220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来源 / 名称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覆盖环节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许可状态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本轮判断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SROIE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解析 · 收据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研究用途，待核验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可做解析评测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CORD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解析 · 字段抽取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CC BY-NC 居多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可评测，禁商用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FUNSD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解析 · 表单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待核验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可做解析评测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XFUND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解析 · 中文表单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待核验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中文表单可用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DocVQA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解析 · 文档理解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待核验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参考价值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PubLayNet / DocBank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解析 · 版面分析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待核验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训练版面模型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AAER（SEC）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业务 · 舞弊案例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公开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理解"什么是异常"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中文数电票样本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授权不明（爬取）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不纳入数据池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5F5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038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校企 / 学校脱敏数据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全链路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需书面授权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并行争取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137" name=""/>
          <p:cNvSpPr/>
          <p:nvPr/>
        </p:nvSpPr>
        <p:spPr>
          <a:xfrm rot="0" flipH="0" flipV="0">
            <a:off x="952500" y="5467350"/>
            <a:ext cx="10325100" cy="6096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914400" y="5467350"/>
            <a:ext cx="10363200" cy="609600"/>
          </a:xfrm>
          <a:custGeom>
            <a:pathLst>
              <a:path w="1088" h="64">
                <a:moveTo>
                  <a:pt x="0" y="0"/>
                </a:moveTo>
                <a:lnTo>
                  <a:pt x="4" y="0"/>
                </a:lnTo>
                <a:lnTo>
                  <a:pt x="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62050" y="5562600"/>
            <a:ext cx="10115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九个来源里，八个只能支撑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读得出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，没有一个能支撑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对得上</a:t>
            </a:r>
            <a:r>
              <a:rPr lang="en-US" sz="1425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62050" y="5829300"/>
            <a:ext cx="1011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这是初步判断，不是结论；许可状态栏凡标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待核验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的，都要逐个打开原始页面确认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方向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E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数据与实验可行性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763250" y="63246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ource Han Sans SC"/>
                <a:ea typeface="Source Han Sans SC"/>
              </a:rPr>
              <a:t>05 / 07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style={{ width: 1280, height: 720, background: '#FFFFFF', position: 'relative', fontFamily: '&quot;Source Han Sans SC&quot;,&quot;Microsoft YaHei&quot;,sans-serif' }}&gt;&#10;    &lt;Box style={{ position: 'absolute', top: 0, left: 0, width: 1280, height: 8, background: '#1E4FA8' }} /&gt;&#10;&#10;    &lt;Box style={{ position: 'absolute', top: 48, left: 96, width: 1088, flexDirection: 'column' }}&gt;&#10;        &lt;Text style={{ fontSize: 14, color: '#8B97A8', letterSpacing: 2 }}&gt;05　核心观察&lt;/Text&gt;&#10;        &lt;Text style={{ fontSize: 34, fontWeight: 'bold', color: '#0E3F8C', marginTop: 10 }}&gt;链条不是断在&quot;读&quot;，是断在&quot;对&quot;&lt;/Text&gt;&#10;    &lt;/Box&gt;&#10;    &lt;Box style={{ position: 'absolute', top: 118, left: 96, width: 1088, height: 2, background: '#D6DCE5' }} /&gt;&#10;&#10;    &lt;Box style={{ position: 'absolute', top: 140, left: 96, width: 332, height: 296, background: '#FFFFFF', border: '1px solid #D6DCE5', borderTop: '4px solid #1D7A55', borderRadius: 6, padding: 24, flexDirection: 'column' }}&gt;&#10;        &lt;Box style={{ flexDirection: 'row', justifyContent: 'space-between', alignItems: 'center' }}&gt;&#10;            &lt;Text style={{ fontSize: 13, color: '#8B97A8', fontWeight: 'bold', letterSpacing: 1 }}&gt;第 1 段&lt;/Text&gt;&#10;            &lt;Box style={{ background: '#E8F5EE', borderRadius: 3, paddingLeft: 9, paddingRight: 9, paddingTop: 3, paddingBottom: 3 }}&gt;&#10;                &lt;Text style={{ fontSize: 12, color: '#1D7A55' }}&gt;公开数据充足&lt;/Text&gt;&#10;            &lt;/Box&gt;&#10;        &lt;/Box&gt;&#10;        &lt;Text style={{ fontSize: 26, fontWeight: 'bold', color: '#1A2230', marginTop: 12 }}&gt;读得出&lt;/Text&gt;&#10;        &lt;Text style={{ fontSize: 16, color: '#8B97A8', marginTop: 4 }}&gt;OCR · 版面分析 · 字段抽取&lt;/Text&gt;&#10;        &lt;Box style={{ width: 280, height: 1, background: '#E5E7EB', marginTop: 14, marginBottom: 12 }} /&gt;&#10;        &lt;Text style={{ fontSize: 17, color: '#4A5568', lineHeight: 1.65 }}&gt;SROIE、CORD、FUNSD、XFUND、PubLayNet 都能直接用。这一段不用自研，借开源即可。&lt;/Text&gt;&#10;    &lt;/Box&gt;&#10;&#10;    &lt;Box style={{ position: 'absolute', top: 250, left: 436, width: 40, height: 40, alignItems: 'center', justifyContent: 'center' }}&gt;&#10;        &lt;Text style={{ fontSize: 26, color: '#8B97A8', fontWeight: 'bold' }}&gt;→&lt;/Text&gt;&#10;    &lt;/Box&gt;&#10;&#10;    &lt;Box style={{ position: 'absolute', top: 140, left: 480, width: 332, height: 296, background: '#FDF5F5', border: '1px solid #EBD5D4', borderTop: '4px solid #D9534F', borderRadius: 6, padding: 24, flexDirection: 'column' }}&gt;&#10;        &lt;Box style={{ flexDirection: 'row', justifyContent: 'space-between', alignItems: 'center' }}&gt;&#10;            &lt;Text style={{ fontSize: 13, color: '#8B97A8', fontWeight: 'bold', letterSpacing: 1 }}&gt;第 2 段&lt;/Text&gt;&#10;            &lt;Box style={{ background: '#FFFFFF', border: '1px solid #EBD5D4', borderRadius: 3, paddingLeft: 9, paddingRight: 9, paddingTop: 3, paddingBottom: 3 }}&gt;&#10;                &lt;Text style={{ fontSize: 12, color: '#D9534F', fontWeight: 'bold' }}&gt;公开数据空缺&lt;/Text&gt;&#10;            &lt;/Box&gt;&#10;        &lt;/Box&gt;&#10;        &lt;Text style={{ fontSize: 26, fontWeight: 'bold', color: '#D9534F', marginTop: 12 }}&gt;对得上&lt;/Text&gt;&#10;        &lt;Text style={{ fontSize: 16, color: '#8B97A8', marginTop: 4 }}&gt;两方 / 三方单据匹配&lt;/Text&gt;&#10;        &lt;Box style={{ width: 280, height: 1, background: '#EBD5D4', marginTop: 14, marginBottom: 12 }} /&gt;&#10;        &lt;Text style={{ fontSize: 17, color: '#1A2230', lineHeight: 1.65 }}&gt;本次检索范围内未发现公开的三单匹配数据集——因为&quot;哪笔该对不上&quot;需要业务判断，没人公开。&lt;/Text&gt;&#10;    &lt;/Box&gt;&#10;&#10;    &lt;Box style={{ position: 'absolute', top: 250, left: 820, width: 40, height: 40, alignItems: 'center', justifyContent: 'center' }}&gt;&#10;        &lt;Text style={{ fontSize: 26, color: '#8B97A8', fontWeight: 'bold' }}&gt;→&lt;/Text&gt;&#10;    &lt;/Box&gt;&#10;&#10;    &lt;Box style={{ position: 'absolute', top: 140, left: 864, width: 320, height: 296, background: '#FDF5F5', border: '1px solid #EBD5D4', borderTop: '4px solid #D9534F', borderRadius: 6, padding: 24, flexDirection: 'column' }}&gt;&#10;        &lt;Box style={{ flexDirection: 'row', justifyContent: 'space-between', alignItems: 'center' }}&gt;&#10;            &lt;Text style={{ fontSize: 13, color: '#8B97A8', fontWeight: 'bold', letterSpacing: 1 }}&gt;第 3 段&lt;/Text&gt;&#10;            &lt;Box style={{ background: '#FFFFFF', border: '1px solid #EBD5D4', borderRadius: 3, paddingLeft: 9, paddingRight: 9, paddingTop: 3, paddingBottom: 3 }}&gt;&#10;                &lt;Text style={{ fontSize: 12, color: '#D9534F', fontWeight: 'bold' }}&gt;无统一标准&lt;/Text&gt;&#10;            &lt;/Box&gt;&#10;        &lt;/Box&gt;&#10;        &lt;Text style={{ fontSize: 26, fontWeight: 'bold', color: '#D9534F', marginTop: 12 }}&gt;说清为什么&lt;/Text&gt;&#10;        &lt;Text style={{ fontSize: 16, color: '#8B97A8', marginTop: 4 }}&gt;异常归因 · 证据链&lt;/Text&gt;&#10;        &lt;Box style={{ width: 268, height: 1, background: '#EBD5D4', marginTop: 14, marginBottom: 12 }} /&gt;&#10;        &lt;Text style={{ fontSize: 17, color: '#1A2230', lineHeight: 1.65 }}&gt;这是假定差异点，但也没有现成的评测口径，指标要我们自己定。&lt;/Text&gt;&#10;    &lt;/Box&gt;&#10;&#10;    &lt;Box style={{ position: 'absolute', top: 456, left: 96, width: 1088, flexDirection: 'column' }}&gt;&#10;        &lt;Box style={{ flexDirection: 'row', gap: 24 }}&gt;&#10;            &lt;Box style={{ width: 532, height: 84, background: '#F7F9FC', borderLeft: '4px solid #1E4FA8', paddingLeft: 20, justifyContent: 'center' }}&gt;&#10;                &lt;Text style={{ fontSize: 17, color: '#4A5568', lineHeight: 1.6 }}&gt;&lt;span style={{ fontWeight: 'bold', color: '#0E3F8C' }}&gt;所以主线只能是合成数据：&lt;/span&gt;只有自己造，才知道正确答案，才算得出检出率。&lt;/Text&gt;&#10;            &lt;/Box&gt;&#10;            &lt;Box style={{ width: 532, height: 84, background: '#F7F9FC', borderLeft: '4px solid #1E4FA8', paddingLeft: 20, justifyContent: 'center' }}&gt;&#10;                &lt;Text style={{ fontSize: 17, color: '#4A5568', lineHeight: 1.6 }}&gt;&lt;span style={{ fontWeight: 'bold', color: '#0E3F8C' }}&gt;公开数据仍有价值：&lt;/span&gt;它负责证明第 1 段读得准，两块结果分开报。&lt;/Text&gt;&#10;            &lt;/Box&gt;&#10;        &lt;/Box&gt;&#10;    &lt;/Box&gt;&#10;&#10;    &lt;Box style={{ position: 'absolute', top: 556, left: 96, width: 1088, height: 76, background: '#0E3F8C', borderRadius: 6, paddingLeft: 26, flexDirection: 'column', justifyContent: 'center' }}&gt;&#10;        &lt;Text style={{ fontSize: 21, color: '#FFFFFF', fontWeight: 'bold' }}&gt;一句话记住：能用公开数据解决的问题，都不是这个项目的难点。&lt;/Text&gt;&#10;        &lt;Text style={{ fontSize: 14, color: '#B5D4F4', marginTop: 6 }}&gt;难点在第 2 段和第 3 段——那里既没有数据，也没有标准答案&lt;/Text&gt;&#10;    &lt;/Box&gt;&#10;&#10;    &lt;Box style={{ position: 'absolute', top: 664, left: 96, width: 1088, flexDirection: 'row', justifyContent: 'space-between' }}&gt;&#10;        &lt;Text style={{ fontSize: 14, color: '#8B97A8' }}&gt;方向 E · 数据与实验可行性&lt;/Text&gt;&#10;        &lt;Text style={{ fontSize: 15, color: '#0E3F8C', fontWeight: 'bold' }}&gt;06 / 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14400" y="4572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05</a:t>
            </a:r>
            <a:r>
              <a:rPr lang="zh-CN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　核心观察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14400" y="7143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链条不是断在</a:t>
            </a:r>
            <a:r>
              <a:rPr lang="en-US" sz="255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读</a:t>
            </a:r>
            <a:r>
              <a:rPr lang="en-US" sz="255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，是断在</a:t>
            </a:r>
            <a:r>
              <a:rPr lang="en-US" sz="255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对</a:t>
            </a:r>
            <a:r>
              <a:rPr lang="en-US" sz="255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914400" y="1123950"/>
            <a:ext cx="103632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914400" y="1371600"/>
            <a:ext cx="3162300" cy="278130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914400" y="1371600"/>
            <a:ext cx="3162300" cy="2781300"/>
          </a:xfrm>
          <a:custGeom>
            <a:pathLst>
              <a:path w="332" h="292">
                <a:moveTo>
                  <a:pt x="326" y="0"/>
                </a:moveTo>
                <a:cubicBezTo>
                  <a:pt x="329" y="0"/>
                  <a:pt x="332" y="2"/>
                  <a:pt x="332" y="5"/>
                </a:cubicBezTo>
                <a:cubicBezTo>
                  <a:pt x="332" y="5"/>
                  <a:pt x="331" y="4"/>
                  <a:pt x="330" y="4"/>
                </a:cubicBezTo>
                <a:lnTo>
                  <a:pt x="2" y="4"/>
                </a:lnTo>
                <a:cubicBezTo>
                  <a:pt x="1" y="4"/>
                  <a:pt x="0" y="5"/>
                  <a:pt x="0" y="6"/>
                </a:cubicBezTo>
                <a:cubicBezTo>
                  <a:pt x="0" y="3"/>
                  <a:pt x="3" y="0"/>
                  <a:pt x="6" y="0"/>
                </a:cubicBezTo>
                <a:lnTo>
                  <a:pt x="326" y="0"/>
                </a:lnTo>
                <a:close/>
              </a:path>
            </a:pathLst>
          </a:custGeom>
          <a:solidFill>
            <a:srgbClr val="1D7A55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43000" y="1628775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>第</a:t>
            </a:r>
            <a:r>
              <a:rPr lang="en-US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>段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2990850" y="1600200"/>
            <a:ext cx="857250" cy="200025"/>
          </a:xfrm>
          <a:prstGeom prst="roundRect">
            <a:avLst>
              <a:gd name="adj" fmla="val 14286"/>
            </a:avLst>
          </a:prstGeom>
          <a:solidFill>
            <a:srgbClr val="E8F5EE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076575" y="16287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D7A55"/>
                </a:solidFill>
                <a:latin typeface="Source Han Sans SC"/>
                <a:ea typeface="Source Han Sans SC"/>
              </a:rPr>
              <a:t>公开数据充足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43000" y="1914525"/>
            <a:ext cx="2705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读得出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143000" y="2257425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OCR ·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版面分析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字段抽取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1143000" y="2581275"/>
            <a:ext cx="26670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43000" y="2705100"/>
            <a:ext cx="27051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SROIE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、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CORD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、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FUNSD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、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XFUND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、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 xml:space="preserve">PubLayNet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都能直接用。这一段不用自研，借开源即可。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219575" y="24193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8B97A8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572000" y="1371600"/>
            <a:ext cx="3162300" cy="2781300"/>
          </a:xfrm>
          <a:prstGeom prst="roundRect">
            <a:avLst>
              <a:gd name="adj" fmla="val 2055"/>
            </a:avLst>
          </a:prstGeom>
          <a:solidFill>
            <a:srgbClr val="FDF5F5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4572000" y="1371600"/>
            <a:ext cx="3162300" cy="2781300"/>
          </a:xfrm>
          <a:custGeom>
            <a:pathLst>
              <a:path w="332" h="292">
                <a:moveTo>
                  <a:pt x="326" y="0"/>
                </a:moveTo>
                <a:cubicBezTo>
                  <a:pt x="329" y="0"/>
                  <a:pt x="332" y="2"/>
                  <a:pt x="332" y="5"/>
                </a:cubicBezTo>
                <a:cubicBezTo>
                  <a:pt x="332" y="5"/>
                  <a:pt x="331" y="4"/>
                  <a:pt x="330" y="4"/>
                </a:cubicBezTo>
                <a:lnTo>
                  <a:pt x="2" y="4"/>
                </a:lnTo>
                <a:cubicBezTo>
                  <a:pt x="1" y="4"/>
                  <a:pt x="0" y="5"/>
                  <a:pt x="0" y="6"/>
                </a:cubicBezTo>
                <a:cubicBezTo>
                  <a:pt x="0" y="3"/>
                  <a:pt x="3" y="0"/>
                  <a:pt x="6" y="0"/>
                </a:cubicBezTo>
                <a:lnTo>
                  <a:pt x="326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800600" y="1628775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>第</a:t>
            </a:r>
            <a:r>
              <a:rPr lang="en-US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2 </a:t>
            </a:r>
            <a:r>
              <a:rPr lang="zh-CN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>段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648450" y="1600200"/>
            <a:ext cx="857250" cy="2000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BD5D4"/>
            </a:solidFill>
            <a:prstDash val="solid"/>
          </a:ln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734175" y="16287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D9534F"/>
                </a:solidFill>
                <a:latin typeface="Source Han Sans SC"/>
                <a:ea typeface="Source Han Sans SC"/>
              </a:rPr>
              <a:t>公开数据空缺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800600" y="1914525"/>
            <a:ext cx="2705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D9534F"/>
                </a:solidFill>
                <a:latin typeface="Source Han Sans SC"/>
                <a:ea typeface="Source Han Sans SC"/>
              </a:rPr>
              <a:t>对得上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800600" y="2257425"/>
            <a:ext cx="2705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两方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三方单据匹配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4800600" y="2581275"/>
            <a:ext cx="2667000" cy="9525"/>
          </a:xfrm>
          <a:prstGeom prst="rect">
            <a:avLst/>
          </a:prstGeom>
          <a:solidFill>
            <a:srgbClr val="EBD5D4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800600" y="2705100"/>
            <a:ext cx="27051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本次检索范围内未发现公开的三单匹配数据集——因为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哪笔该对不上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需要业务判断，没人公开。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877175" y="24193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8B97A8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8229600" y="1371600"/>
            <a:ext cx="3048000" cy="2781300"/>
          </a:xfrm>
          <a:prstGeom prst="roundRect">
            <a:avLst>
              <a:gd name="adj" fmla="val 2055"/>
            </a:avLst>
          </a:prstGeom>
          <a:solidFill>
            <a:srgbClr val="FDF5F5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8229600" y="1371600"/>
            <a:ext cx="3048000" cy="2781300"/>
          </a:xfrm>
          <a:custGeom>
            <a:pathLst>
              <a:path w="320" h="292">
                <a:moveTo>
                  <a:pt x="314" y="0"/>
                </a:moveTo>
                <a:cubicBezTo>
                  <a:pt x="317" y="0"/>
                  <a:pt x="320" y="2"/>
                  <a:pt x="320" y="5"/>
                </a:cubicBezTo>
                <a:cubicBezTo>
                  <a:pt x="320" y="5"/>
                  <a:pt x="319" y="4"/>
                  <a:pt x="318" y="4"/>
                </a:cubicBezTo>
                <a:lnTo>
                  <a:pt x="2" y="4"/>
                </a:lnTo>
                <a:cubicBezTo>
                  <a:pt x="1" y="4"/>
                  <a:pt x="0" y="5"/>
                  <a:pt x="0" y="6"/>
                </a:cubicBezTo>
                <a:cubicBezTo>
                  <a:pt x="0" y="3"/>
                  <a:pt x="3" y="0"/>
                  <a:pt x="6" y="0"/>
                </a:cubicBezTo>
                <a:lnTo>
                  <a:pt x="314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458200" y="1628775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>第</a:t>
            </a:r>
            <a:r>
              <a:rPr lang="en-US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975" b="1" spc="75">
                <a:solidFill>
                  <a:srgbClr val="8B97A8"/>
                </a:solidFill>
                <a:latin typeface="Source Han Sans SC"/>
                <a:ea typeface="Source Han Sans SC"/>
              </a:rPr>
              <a:t>段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10306050" y="1600200"/>
            <a:ext cx="742950" cy="2000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BD5D4"/>
            </a:solidFill>
            <a:prstDash val="solid"/>
          </a:ln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391775" y="16287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D9534F"/>
                </a:solidFill>
                <a:latin typeface="Source Han Sans SC"/>
                <a:ea typeface="Source Han Sans SC"/>
              </a:rPr>
              <a:t>无统一标准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458200" y="1914525"/>
            <a:ext cx="259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D9534F"/>
                </a:solidFill>
                <a:latin typeface="Source Han Sans SC"/>
                <a:ea typeface="Source Han Sans SC"/>
              </a:rPr>
              <a:t>说清为什么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458200" y="2257425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异常归因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证据链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8458200" y="2581275"/>
            <a:ext cx="2552700" cy="9525"/>
          </a:xfrm>
          <a:prstGeom prst="rect">
            <a:avLst/>
          </a:prstGeom>
          <a:solidFill>
            <a:srgbClr val="EBD5D4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458200" y="2705100"/>
            <a:ext cx="25908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这是假定差异点，但也没有现成的评测口径，指标要我们自己定。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952500" y="4343400"/>
            <a:ext cx="5029200" cy="800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914400" y="4343400"/>
            <a:ext cx="5067300" cy="800100"/>
          </a:xfrm>
          <a:custGeom>
            <a:pathLst>
              <a:path w="532" h="84">
                <a:moveTo>
                  <a:pt x="0" y="0"/>
                </a:moveTo>
                <a:lnTo>
                  <a:pt x="4" y="0"/>
                </a:lnTo>
                <a:lnTo>
                  <a:pt x="4" y="84"/>
                </a:lnTo>
                <a:lnTo>
                  <a:pt x="0" y="8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43000" y="4429125"/>
            <a:ext cx="4838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0E3F8C"/>
                </a:solidFill>
                <a:latin typeface="Source Han Sans SC"/>
                <a:ea typeface="Source Han Sans SC"/>
              </a:rPr>
              <a:t>所以主线只能是合成数据：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只有自己造，才知道正确答案，才算得出检出率。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248400" y="4343400"/>
            <a:ext cx="5029200" cy="800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6210300" y="4343400"/>
            <a:ext cx="5067300" cy="800100"/>
          </a:xfrm>
          <a:custGeom>
            <a:pathLst>
              <a:path w="532" h="84">
                <a:moveTo>
                  <a:pt x="0" y="0"/>
                </a:moveTo>
                <a:lnTo>
                  <a:pt x="4" y="0"/>
                </a:lnTo>
                <a:lnTo>
                  <a:pt x="4" y="84"/>
                </a:lnTo>
                <a:lnTo>
                  <a:pt x="0" y="8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438900" y="4591050"/>
            <a:ext cx="4838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0E3F8C"/>
                </a:solidFill>
                <a:latin typeface="Source Han Sans SC"/>
                <a:ea typeface="Source Han Sans SC"/>
              </a:rPr>
              <a:t>公开数据仍有价值：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它负责证明第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段读得准，两块结果分开报。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914400" y="5295900"/>
            <a:ext cx="10363200" cy="723900"/>
          </a:xfrm>
          <a:prstGeom prst="roundRect">
            <a:avLst>
              <a:gd name="adj" fmla="val 789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62050" y="5429250"/>
            <a:ext cx="10115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一句话记住：能用公开数据解决的问题，都不是这个项目的难点。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62050" y="5734050"/>
            <a:ext cx="1011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Source Han Sans SC"/>
                <a:ea typeface="Source Han Sans SC"/>
              </a:rPr>
              <a:t>难点在第</a:t>
            </a:r>
            <a:r>
              <a:rPr lang="en-US" sz="1050">
                <a:solidFill>
                  <a:srgbClr val="B5D4F4"/>
                </a:solidFill>
                <a:latin typeface="Source Han Sans SC"/>
                <a:ea typeface="Source Han Sans SC"/>
              </a:rPr>
              <a:t xml:space="preserve"> 2 </a:t>
            </a:r>
            <a:r>
              <a:rPr lang="zh-CN" sz="1050">
                <a:solidFill>
                  <a:srgbClr val="B5D4F4"/>
                </a:solidFill>
                <a:latin typeface="Source Han Sans SC"/>
                <a:ea typeface="Source Han Sans SC"/>
              </a:rPr>
              <a:t>段和第</a:t>
            </a:r>
            <a:r>
              <a:rPr lang="en-US" sz="1050">
                <a:solidFill>
                  <a:srgbClr val="B5D4F4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050">
                <a:solidFill>
                  <a:srgbClr val="B5D4F4"/>
                </a:solidFill>
                <a:latin typeface="Source Han Sans SC"/>
                <a:ea typeface="Source Han Sans SC"/>
              </a:rPr>
              <a:t>段——那里既没有数据，也没有标准答案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方向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E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数据与实验可行性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763250" y="63246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ource Han Sans SC"/>
                <a:ea typeface="Source Han Sans SC"/>
              </a:rPr>
              <a:t>06 / 07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89" name="" descr="&lt;Slide style={{ width: 1280, height: 720, background: '#FFFFFF', position: 'relative', fontFamily: '&quot;Source Han Sans SC&quot;,&quot;Microsoft YaHei&quot;,sans-serif' }}&gt;&#13;&#10;    &lt;Box style={{ position: 'absolute', top: 0, left: 0, width: 1280, height: 8, background: '#1E4FA8' }} /&gt;&#13;&#10;&#13;&#10;    &lt;Box style={{ position: 'absolute', top: 48, left: 96, width: 1088, flexDirection: 'column' }}&gt;&#13;&#10;        &lt;Text style={{ fontSize: 14, color: '#8B97A8', letterSpacing: 2 }}&gt;06　下一步&lt;/Text&gt;&#13;&#10;        &lt;Text style={{ fontSize: 34, fontWeight: 'bold', color: '#0E3F8C', marginTop: 10 }}&gt;到 10/25：先跑通 20 笔，再谈别的&lt;/Text&gt;&#13;&#10;    &lt;/Box&gt;&#13;&#10;    &lt;Box style={{ position: 'absolute', top: 118, left: 96, width: 1088, height: 2, background: '#D6DCE5' }} /&gt;&#13;&#10;&#13;&#10;    &lt;Box style={{ position: 'absolute', top: 132, left: 96, width: 636, height: 352, background: '#FFFFFF', border: '1px solid #D6DCE5', borderTop: '3px solid #1E4FA8', borderRadius: 6, padding: 24, flexDirection: 'column' }}&gt;&#13;&#10;        &lt;Text style={{ fontSize: 21, fontWeight: 'bold', color: '#0E3F8C' }}&gt;我要做完的五件事&lt;/Text&gt;&#13;&#10;        &lt;Text style={{ fontSize: 14, color: '#8B97A8', marginTop: 6 }}&gt;按优先级排序，第 1 条周末前完成&lt;/Text&gt;&#13;&#10;        &lt;Box style={{ flexDirection: 'column', gap: 13, marginTop: 16 }}&gt;&#13;&#10;            &lt;Box style={{ flexDirection: 'row', justifyContent: 'space-between', alignItems: 'center' }}&gt;&#13;&#10;                &lt;Box style={{ flexDirection: 'row' }}&gt;&#13;&#10;                    &lt;Text style={{ fontSize: 15, color: '#1E4FA8', fontWeight: 'bold', width: 26 }}&gt;01&lt;/Text&gt;&#13;&#10;                    &lt;Text style={{ fontSize: 17, color: '#1A2230', lineHeight: 1.5, width: 420 }}&gt;反查同类工作，记「他们用什么数据」&lt;/Text&gt;&#13;&#10;                &lt;/Box&gt;&#13;&#10;                &lt;Box style={{ background: '#FDF5F5', border: '1px solid #E5E7EB', borderRadius: 3, paddingLeft: 8, paddingRight: 8, paddingTop: 2, paddingBottom: 2 }}&gt;&#13;&#10;                    &lt;Text style={{ fontSize: 12, color: '#D9534F' }}&gt;最优先&lt;/Text&gt;&#13;&#10;                &lt;/Box&gt;&#13;&#10;            &lt;/Box&gt;&#13;&#10;            &lt;Box style={{ flexDirection: 'row', justifyContent: 'space-between', alignItems: 'center' }}&gt;&#13;&#10;                &lt;Box style={{ flexDirection: 'row' }}&gt;&#13;&#10;                    &lt;Text style={{ fontSize: 15, color: '#1E4FA8', fontWeight: 'bold', width: 26 }}&gt;02&lt;/Text&gt;&#13;&#10;                    &lt;Text style={{ fontSize: 17, color: '#1A2230', lineHeight: 1.5, width: 420 }}&gt;查河海官方数据库有无可用资源&lt;/Text&gt;&#13;&#10;                &lt;/Box&gt;&#13;&#10;                &lt;Box style={{ background: '#F7F9FC', border: '1px solid #E5E7EB', borderRadius: 3, paddingLeft: 8, paddingRight: 8, paddingTop: 2, paddingBottom: 2 }}&gt;&#13;&#10;                    &lt;Text style={{ fontSize: 12, color: '#4A5568' }}&gt;待查&lt;/Text&gt;&#13;&#10;                &lt;/Box&gt;&#13;&#10;            &lt;/Box&gt;&#13;&#10;            &lt;Box style={{ flexDirection: 'row', justifyContent: 'space-between', alignItems: 'center' }}&gt;&#13;&#10;                &lt;Box style={{ flexDirection: 'row' }}&gt;&#13;&#10;                    &lt;Text style={{ fontSize: 15, color: '#1E4FA8', fontWeight: 'bold', width: 26 }}&gt;03&lt;/Text&gt;&#13;&#10;                    &lt;Text style={{ fontSize: 17, color: '#1A2230', lineHeight: 1.5, width: 420 }}&gt;逐个核验 1–7 号来源的许可&lt;/Text&gt;&#13;&#10;                &lt;/Box&gt;&#13;&#10;                &lt;Box style={{ background: '#F7F9FC', border: '1px solid #E5E7EB', borderRadius: 3, paddingLeft: 8, paddingRight: 8, paddingTop: 2, paddingBottom: 2 }}&gt;&#13;&#10;                    &lt;Text style={{ fontSize: 12, color: '#4A5568' }}&gt;待核&lt;/Text&gt;&#13;&#10;                &lt;/Box&gt;&#13;&#10;            &lt;/Box&gt;&#13;&#10;            &lt;Box style={{ flexDirection: 'row', justifyContent: 'space-between', alignItems: 'center' }}&gt;&#13;&#10;                &lt;Box style={{ flexDirection: 'row' }}&gt;&#13;&#10;                    &lt;Text style={{ fontSize: 15, color: '#1E4FA8', fontWeight: 'bold', width: 26 }}&gt;04&lt;/Text&gt;&#13;&#10;                    &lt;Text style={{ fontSize: 17, color: '#1A2230', lineHeight: 1.5, width: 420 }}&gt;下载 SROIE / FUNSD，真跑一遍导入&lt;/Text&gt;&#13;&#10;                &lt;/Box&gt;&#13;&#10;                &lt;Box style={{ background: '#E8EFF8', border: '1px solid #E5E7EB', borderRadius: 3, paddingLeft: 8, paddingRight: 8, paddingTop: 2, paddingBottom: 2 }}&gt;&#13;&#10;                    &lt;Text style={{ fontSize: 12, color: '#1E4FA8' }}&gt;本周必做&lt;/Text&gt;&#13;&#10;                &lt;/Box&gt;&#13;&#10;            &lt;/Box&gt;&#13;&#10;            &lt;Box style={{ flexDirection: 'row', justifyContent: 'space-between', alignItems: 'center' }}&gt;&#13;&#10;                &lt;Box style={{ flexDirection: 'row' }}&gt;&#13;&#10;                    &lt;Text style={{ fontSize: 15, color: '#1E4FA8', fontWeight: 'bold', width: 26 }}&gt;05&lt;/Text&gt;&#13;&#10;                    &lt;Text style={{ fontSize: 17, color: '#1A2230', lineHeight: 1.5, width: 420 }}&gt;合成脚本 v1：跑 20 笔金额不符&lt;/Text&gt;&#13;&#10;                &lt;/Box&gt;&#13;&#10;                &lt;Box style={{ background: '#E8EFF8', border: '1px solid #E5E7EB', borderRadius: 3, paddingLeft: 8, paddingRight: 8, paddingTop: 2, paddingBottom: 2 }}&gt;&#13;&#10;                    &lt;Text style={{ fontSize: 12, color: '#1E4FA8' }}&gt;本周必做&lt;/Text&gt;&#13;&#10;                &lt;/Box&gt;&#13;&#10;            &lt;/Box&gt;&#13;&#10;        &lt;/Box&gt;&#13;&#10;&#13;&#10;        &lt;Box style={{ width: 588, height: 1, background: '#E5E7EB', marginTop: 14 }} /&gt;&#13;&#10;        &lt;Text style={{ fontSize: 14, color: '#D9534F', marginTop: 10 }}&gt;完成判据：有数、有图、有记录——不是有一份清单。&lt;/Text&gt;&#13;&#10;    &lt;/Box&gt;&#13;&#10;&#13;&#10;    &lt;Box style={{ position: 'absolute', top: 132, left: 756, width: 428, height: 352, background: '#F7F9FC', border: '1px solid #D6DCE5', borderRadius: 6, padding: 24, flexDirection: 'column' }}&gt;&#13;&#10;        &lt;Text style={{ fontSize: 21, fontWeight: 'bold', color: '#0E3F8C' }}&gt;需要三类配合&lt;/Text&gt;&#13;&#10;        &lt;Text style={{ fontSize: 14, color: '#8B97A8', marginTop: 6 }}&gt;跨模块部分，会上想对一下&lt;/Text&gt;&#13;&#10;        &lt;Box style={{ flexDirection: 'column', gap: 12, marginTop: 16 }}&gt;&#13;&#10;            &lt;Box style={{ flexDirection: 'column' }}&gt;&#13;&#10;                &lt;Text style={{ fontSize: 17, color: '#1A2230', fontWeight: 'bold' }}&gt;商科侧 · 会计 / 财务管理&lt;/Text&gt;&#13;&#10;                &lt;Text style={{ fontSize: 15, color: '#4A5568', lineHeight: 1.5, marginTop: 3 }}&gt;审定异常注入规则，避免&quot;自己出题自己答&quot;&lt;/Text&gt;&#13;&#10;            &lt;/Box&gt;&#13;&#10;            &lt;Box style={{ width: 380, height: 1, background: '#E5E7EB' }} /&gt;&#13;&#10;            &lt;Box style={{ flexDirection: 'column' }}&gt;&#13;&#10;                &lt;Text style={{ fontSize: 17, color: '#1A2230', fontWeight: 'bold' }}&gt;B 方向 · AI 技术与学术&lt;/Text&gt;&#13;&#10;                &lt;Text style={{ fontSize: 15, color: '#4A5568', lineHeight: 1.5, marginTop: 3 }}&gt;同类论文的&quot;数据来源&quot;章节，帮我一起标&lt;/Text&gt;&#13;&#10;            &lt;/Box&gt;&#13;&#10;            &lt;Box style={{ width: 380, height: 1, background: '#E5E7EB' }} /&gt;&#13;&#10;            &lt;Box style={{ flexDirection: 'column' }}&gt;&#13;&#10;                &lt;Text style={{ fontSize: 17, color: '#1A2230', fontWeight: 'bold' }}&gt;C 方向 · 竞品与开源&lt;/Text&gt;&#13;&#10;                &lt;Text style={{ fontSize: 15, color: '#4A5568', lineHeight: 1.5, marginTop: 3 }}&gt;竞品实际用什么数据、怎么绕开合规&lt;/Text&gt;&#13;&#10;            &lt;/Box&gt;&#13;&#10;        &lt;/Box&gt;&#13;&#10;    &lt;/Box&gt;&#13;&#10;&#13;&#10;    &lt;Box style={{ position: 'absolute', top: 500, left: 96, width: 1088, height: 140, background: '#F7F9FC', border: '1px solid #D6DCE5', borderRadius: 6, paddingLeft: 24, paddingRight: 24, paddingTop: 16, flexDirection: 'column' }}&gt;&#13;&#10;        &lt;Text style={{ fontSize: 15, color: '#1E4FA8', fontWeight: 'bold', letterSpacing: 1 }}&gt;会上想请三位一起定的三件事&lt;/Text&gt;&#13;&#10;        &lt;Box style={{ flexDirection: 'row', gap: 18, marginTop: 14 }}&gt;&#13;&#10;            &lt;Box style={{ width: 306, flexDirection: 'column' }}&gt;&#13;&#10;                &lt;Text style={{ fontSize: 13, color: '#8B97A8', fontWeight: 'bold' }}&gt;议题 01&lt;/Text&gt;&#13;&#10;                &lt;Text style={{ fontSize: 17, color: '#1A2230', lineHeight: 1.55, marginTop: 5 }}&gt;数据路线就按「合成数据为主」定下来？&lt;/Text&gt;&#13;&#10;            &lt;/Box&gt;&#13;&#10;            &lt;Box style={{ width: 1, height: 64, background: '#E5E7EB' }} /&gt;&#13;&#10;            &lt;Box style={{ width: 306, flexDirection: 'column' }}&gt;&#13;&#10;                &lt;Text style={{ fontSize: 13, color: '#8B97A8', fontWeight: 'bold' }}&gt;议题 02&lt;/Text&gt;&#13;&#10;                &lt;Text style={{ fontSize: 17, color: '#1A2230', lineHeight: 1.55, marginTop: 5 }}&gt;异常类型由谁审定？我建议交商科侧。&lt;/Text&gt;&#13;&#10;            &lt;/Box&gt;&#13;&#10;            &lt;Box style={{ width: 1, height: 64, background: '#E5E7EB' }} /&gt;&#13;&#10;            &lt;Box style={{ width: 306, flexDirection: 'column' }}&gt;&#13;&#10;                &lt;Text style={{ fontSize: 13, color: '#8B97A8', fontWeight: 'bold' }}&gt;议题 03&lt;/Text&gt;&#13;&#10;                &lt;Text style={{ fontSize: 17, color: '#1A2230', lineHeight: 1.55, marginTop: 5 }}&gt;若校赛在 11 月，六个方向要不要砍？&lt;/Text&gt;&#13;&#10;            &lt;/Box&gt;&#13;&#10;        &lt;/Box&gt;&#13;&#10;    &lt;/Box&gt;&#13;&#10;&#13;&#10;    &lt;Box style={{ position: 'absolute', top: 664, left: 96, width: 1088, flexDirection: 'row', justifyContent: 'space-between' }}&gt;&#13;&#10;        &lt;Text style={{ fontSize: 14, color: '#8B97A8' }}&gt;方向 E · 数据与实验可行性&lt;/Text&gt;&#13;&#10;        &lt;Text style={{ fontSize: 15, color: '#0E3F8C', fontWeight: 'bold' }}&gt;07 / 07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14400" y="4572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06</a:t>
            </a:r>
            <a:r>
              <a:rPr lang="zh-CN" sz="1050" spc="150">
                <a:solidFill>
                  <a:srgbClr val="8B97A8"/>
                </a:solidFill>
                <a:latin typeface="Source Han Sans SC"/>
                <a:ea typeface="Source Han Sans SC"/>
              </a:rPr>
              <a:t>　下一步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14400" y="714375"/>
            <a:ext cx="10363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到</a:t>
            </a:r>
            <a:r>
              <a:rPr lang="en-US" sz="2550" b="1">
                <a:solidFill>
                  <a:srgbClr val="0E3F8C"/>
                </a:solidFill>
                <a:latin typeface="Source Han Sans SC"/>
                <a:ea typeface="Source Han Sans SC"/>
              </a:rPr>
              <a:t xml:space="preserve"> 10/25</a:t>
            </a: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：先跑通</a:t>
            </a:r>
            <a:r>
              <a:rPr lang="en-US" sz="2550" b="1">
                <a:solidFill>
                  <a:srgbClr val="0E3F8C"/>
                </a:solidFill>
                <a:latin typeface="Source Han Sans SC"/>
                <a:ea typeface="Source Han Sans SC"/>
              </a:rPr>
              <a:t xml:space="preserve"> 20 </a:t>
            </a:r>
            <a:r>
              <a:rPr lang="zh-CN" sz="2550" b="1">
                <a:solidFill>
                  <a:srgbClr val="0E3F8C"/>
                </a:solidFill>
                <a:latin typeface="Source Han Sans SC"/>
                <a:ea typeface="Source Han Sans SC"/>
              </a:rPr>
              <a:t>笔，再谈别的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914400" y="1123950"/>
            <a:ext cx="103632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914400" y="1285875"/>
            <a:ext cx="6057900" cy="3324225"/>
          </a:xfrm>
          <a:prstGeom prst="roundRect">
            <a:avLst>
              <a:gd name="adj" fmla="val 171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914400" y="1285875"/>
            <a:ext cx="6057900" cy="3324225"/>
          </a:xfrm>
          <a:custGeom>
            <a:pathLst>
              <a:path w="636" h="349">
                <a:moveTo>
                  <a:pt x="630" y="0"/>
                </a:moveTo>
                <a:cubicBezTo>
                  <a:pt x="633" y="0"/>
                  <a:pt x="636" y="2"/>
                  <a:pt x="636" y="5"/>
                </a:cubicBezTo>
                <a:cubicBezTo>
                  <a:pt x="635" y="4"/>
                  <a:pt x="634" y="3"/>
                  <a:pt x="633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63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43000" y="1514475"/>
            <a:ext cx="5600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我要做完的五件事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43000" y="1819275"/>
            <a:ext cx="560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按优先级排序，第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条周末前完成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43000" y="2133600"/>
            <a:ext cx="2476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390650" y="213360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反查同类工作，记「他们用什么数据」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248400" y="2190750"/>
            <a:ext cx="495300" cy="180975"/>
          </a:xfrm>
          <a:prstGeom prst="roundRect">
            <a:avLst>
              <a:gd name="adj" fmla="val 15789"/>
            </a:avLst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324600" y="22098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D9534F"/>
                </a:solidFill>
                <a:latin typeface="Source Han Sans SC"/>
                <a:ea typeface="Source Han Sans SC"/>
              </a:rPr>
              <a:t>最优先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43000" y="2552700"/>
            <a:ext cx="2476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390650" y="255270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查河海官方数据库有无可用资源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362700" y="2609850"/>
            <a:ext cx="381000" cy="180975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438900" y="26289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Source Han Sans SC"/>
                <a:ea typeface="Source Han Sans SC"/>
              </a:rPr>
              <a:t>待查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43000" y="2971800"/>
            <a:ext cx="2476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390650" y="297180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逐个核验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1–7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号来源的许可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362700" y="3028950"/>
            <a:ext cx="381000" cy="180975"/>
          </a:xfrm>
          <a:prstGeom prst="roundRect">
            <a:avLst>
              <a:gd name="adj" fmla="val 1578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438900" y="30480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Source Han Sans SC"/>
                <a:ea typeface="Source Han Sans SC"/>
              </a:rPr>
              <a:t>待核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43000" y="3390900"/>
            <a:ext cx="2476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390650" y="339090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下载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SROIE / FUNSD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，真跑一遍导入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134100" y="3448050"/>
            <a:ext cx="609600" cy="180975"/>
          </a:xfrm>
          <a:prstGeom prst="roundRect">
            <a:avLst>
              <a:gd name="adj" fmla="val 15789"/>
            </a:avLst>
          </a:prstGeom>
          <a:solidFill>
            <a:srgbClr val="E8EFF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210300" y="34671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E4FA8"/>
                </a:solidFill>
                <a:latin typeface="Source Han Sans SC"/>
                <a:ea typeface="Source Han Sans SC"/>
              </a:rPr>
              <a:t>本周必做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43000" y="3810000"/>
            <a:ext cx="2476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05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390650" y="381000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合成脚本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v1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：跑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20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笔金额不符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134100" y="3867150"/>
            <a:ext cx="609600" cy="180975"/>
          </a:xfrm>
          <a:prstGeom prst="roundRect">
            <a:avLst>
              <a:gd name="adj" fmla="val 15789"/>
            </a:avLst>
          </a:prstGeom>
          <a:solidFill>
            <a:srgbClr val="E8EFF8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210300" y="38862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1E4FA8"/>
                </a:solidFill>
                <a:latin typeface="Source Han Sans SC"/>
                <a:ea typeface="Source Han Sans SC"/>
              </a:rPr>
              <a:t>本周必做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1143000" y="4238625"/>
            <a:ext cx="56007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43000" y="4343400"/>
            <a:ext cx="560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534F"/>
                </a:solidFill>
                <a:latin typeface="Source Han Sans SC"/>
                <a:ea typeface="Source Han Sans SC"/>
              </a:rPr>
              <a:t>完成判据：有数、有图、有记录——不是有一份清单。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200900" y="1257300"/>
            <a:ext cx="4076700" cy="3352800"/>
          </a:xfrm>
          <a:prstGeom prst="roundRect">
            <a:avLst>
              <a:gd name="adj" fmla="val 170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429500" y="1485900"/>
            <a:ext cx="3619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需要三类配合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429500" y="1790700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跨模块部分，会上想对一下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429500" y="210502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商科侧</a:t>
            </a:r>
            <a:r>
              <a:rPr lang="en-US" sz="1275" b="1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会计</a:t>
            </a:r>
            <a:r>
              <a:rPr lang="en-US" sz="1275" b="1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财务管理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429500" y="23336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Source Han Sans SC"/>
                <a:ea typeface="Source Han Sans SC"/>
              </a:rPr>
              <a:t>审定异常注入规则，避免</a:t>
            </a:r>
            <a:r>
              <a:rPr lang="en-US" sz="1125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4A5568"/>
                </a:solidFill>
                <a:latin typeface="Source Han Sans SC"/>
                <a:ea typeface="Source Han Sans SC"/>
              </a:rPr>
              <a:t>自己出题自己答</a:t>
            </a:r>
            <a:r>
              <a:rPr lang="en-US" sz="1125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7429500" y="2705100"/>
            <a:ext cx="3619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429500" y="282892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B </a:t>
            </a: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方向</a:t>
            </a:r>
            <a:r>
              <a:rPr lang="en-US" sz="1275" b="1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· AI </a:t>
            </a: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技术与学术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429500" y="30575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Source Han Sans SC"/>
                <a:ea typeface="Source Han Sans SC"/>
              </a:rPr>
              <a:t>同类论文的</a:t>
            </a:r>
            <a:r>
              <a:rPr lang="en-US" sz="1125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4A5568"/>
                </a:solidFill>
                <a:latin typeface="Source Han Sans SC"/>
                <a:ea typeface="Source Han Sans SC"/>
              </a:rPr>
              <a:t>数据来源</a:t>
            </a:r>
            <a:r>
              <a:rPr lang="en-US" sz="1125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4A5568"/>
                </a:solidFill>
                <a:latin typeface="Source Han Sans SC"/>
                <a:ea typeface="Source Han Sans SC"/>
              </a:rPr>
              <a:t>章节，帮我一起标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429500" y="3429000"/>
            <a:ext cx="36195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429500" y="3552825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C </a:t>
            </a: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方向</a:t>
            </a:r>
            <a:r>
              <a:rPr lang="en-US" sz="1275" b="1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竞品与开源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29500" y="37814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Source Han Sans SC"/>
                <a:ea typeface="Source Han Sans SC"/>
              </a:rPr>
              <a:t>竞品实际用什么数据、怎么绕开合规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914400" y="4762500"/>
            <a:ext cx="10363200" cy="1333500"/>
          </a:xfrm>
          <a:prstGeom prst="roundRect">
            <a:avLst>
              <a:gd name="adj" fmla="val 42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43000" y="4914900"/>
            <a:ext cx="990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1E4FA8"/>
                </a:solidFill>
                <a:latin typeface="Source Han Sans SC"/>
                <a:ea typeface="Source Han Sans SC"/>
              </a:rPr>
              <a:t>会上想请三位一起定的三件事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43000" y="5219700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B97A8"/>
                </a:solidFill>
                <a:latin typeface="Source Han Sans SC"/>
                <a:ea typeface="Source Han Sans SC"/>
              </a:rPr>
              <a:t>议题</a:t>
            </a:r>
            <a:r>
              <a:rPr lang="en-US" sz="975" b="1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01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43000" y="5419725"/>
            <a:ext cx="29146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数据路线就按「合成数据为主」定下来？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4229100" y="5219700"/>
            <a:ext cx="9525" cy="6096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4410075" y="5219700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B97A8"/>
                </a:solidFill>
                <a:latin typeface="Source Han Sans SC"/>
                <a:ea typeface="Source Han Sans SC"/>
              </a:rPr>
              <a:t>议题</a:t>
            </a:r>
            <a:r>
              <a:rPr lang="en-US" sz="975" b="1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02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410075" y="5419725"/>
            <a:ext cx="29146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异常类型由谁审定？我建议交商科侧。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7496175" y="5219700"/>
            <a:ext cx="9525" cy="6096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677150" y="5219700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B97A8"/>
                </a:solidFill>
                <a:latin typeface="Source Han Sans SC"/>
                <a:ea typeface="Source Han Sans SC"/>
              </a:rPr>
              <a:t>议题</a:t>
            </a:r>
            <a:r>
              <a:rPr lang="en-US" sz="975" b="1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03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677150" y="5419725"/>
            <a:ext cx="29146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若校赛在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 xml:space="preserve"> 11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月，六个方向要不要砍？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方向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 xml:space="preserve"> E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数据与实验可行性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763250" y="63246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ource Han Sans SC"/>
                <a:ea typeface="Source Han Sans SC"/>
              </a:rPr>
              <a:t>07 / 07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2026-10-22T21:24:37Z</dcterms:created>
  <dcterms:modified xsi:type="dcterms:W3CDTF">2026-10-22T21:24:37Z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{"AIGC":{"Label":"1","ContentProducer":"00119111010856365494821B355","ProduceID":"01a163bcc8d975df909148f25d4273df","ReservedCode1":"","ContentPropagator":"00119111010856365494821B355","PropagateID":"01a163bcc8d975df909148f25d4273df","ReservedCode2":""}}</vt:lpwstr>
  </property>
</Properties>
</file>
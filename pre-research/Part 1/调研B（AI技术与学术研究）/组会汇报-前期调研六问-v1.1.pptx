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F1（%）· 同一批模型，换版式之后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0B5F66"/>
            </a:solidFill>
          </c:spPr>
          <c:cat>
            <c:strRef>
              <c:f>Sheet1!$A$2:$A$6</c:f>
              <c:strCache>
                <c:ptCount val="5"/>
                <c:pt idx="0">
                  <c:v>同版式</c:v>
                </c:pt>
                <c:pt idx="1">
                  <c:v>LayoutLMv3</c:v>
                </c:pt>
                <c:pt idx="2">
                  <c:v>Donut</c:v>
                </c:pt>
                <c:pt idx="3">
                  <c:v>混合规则</c:v>
                </c:pt>
                <c:pt idx="4">
                  <c:v>ViTLP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99.0</c:v>
                </c:pt>
                <c:pt idx="1">
                  <c:v>95.7</c:v>
                </c:pt>
                <c:pt idx="2">
                  <c:v>73.6</c:v>
                </c:pt>
                <c:pt idx="3">
                  <c:v>56.3</c:v>
                </c:pt>
                <c:pt idx="4">
                  <c:v>3.5</c:v>
                </c:pt>
              </c:numCache>
            </c:numRef>
          </c:val>
        </c:ser>
        <c:dLbls>
          <c:txPr>
            <a:bodyPr/>
            <a:lstStyle/>
            <a:p>
              <a:pPr>
                <a:defRPr sz="95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latin typeface="微软雅黑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无语义嵌入</c:v>
                </c:pt>
              </c:strCache>
            </c:strRef>
          </c:tx>
          <c:spPr>
            <a:solidFill>
              <a:srgbClr val="9AB8BA"/>
            </a:solidFill>
          </c:spPr>
          <c:cat>
            <c:strRef>
              <c:f>Sheet1!$A$2:$A$3</c:f>
              <c:strCache>
                <c:ptCount val="2"/>
                <c:pt idx="0">
                  <c:v>合成日志
(属性值 A/B)</c:v>
                </c:pt>
                <c:pt idx="1">
                  <c:v>真实日志
(属性值有语义)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0.927</c:v>
                </c:pt>
                <c:pt idx="1">
                  <c:v>0.64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加 LLM 语义</c:v>
                </c:pt>
              </c:strCache>
            </c:strRef>
          </c:tx>
          <c:spPr>
            <a:solidFill>
              <a:srgbClr val="0B5F66"/>
            </a:solidFill>
          </c:spPr>
          <c:cat>
            <c:strRef>
              <c:f>Sheet1!$A$2:$A$3</c:f>
              <c:strCache>
                <c:ptCount val="2"/>
                <c:pt idx="0">
                  <c:v>合成日志
(属性值 A/B)</c:v>
                </c:pt>
                <c:pt idx="1">
                  <c:v>真实日志
(属性值有语义)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0.937</c:v>
                </c:pt>
                <c:pt idx="1">
                  <c:v>0.661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5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75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800">
          <a:latin typeface="微软雅黑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（开场 · 30 秒）先给边界：这 51 篇是老师给的语料，我们只做原文内的判断。这句话先说出来，后面所有“没答”的地方都站得住。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（主线 · 1 分钟）四句话就是全篇骨架。只强调第 1 句和最后一句：只有 1 篇做完完整链路，真正的空位是三个 0 篇。</a:t>
            </a:r>
          </a:p>
          <a:p/>
          <a:p>
            <a:r>
              <a:t>讲完翻页前说一句：10 分钟只讲 9 页，其余页右上角标了『备查页』，被问到再翻。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（主线 · 1.5 分钟）主动交底页，一定要讲。先说四个答满，再说两个部分、一个未涉及。讲完停两秒，等老师反应——通常他会问“那两个为什么只到一半”，而不是“你怎么什么都没做”。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（备查）证明我们真的逐篇读过，不是按标题猜。点名 9 篇排除项和 1 篇张冠李戴。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（主线 · 1.5 分钟）成熟度必须按环节说，不能给一个总分。重点讲③和④的对比：检测有方法但数据卡死，完整链路只有 1 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（备查）只讲一张图：99 → 95.7 → 73.6 → 56.3 → 3.5。补一句“同类论文多数只报同版式”。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（主线 · 1.5 分钟）只念三行：S1（97% 但只评抽取）、Kawazura（100% 召回但 120 条是注入的）、CG-LGN（0.49 是合成数据）。三行覆盖三种典型局限：单点、注入、合成。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（备查）这页是“不要做”的清单：上游已经工业化，本科课题在这一层做不出新东西。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（备查）左右对照一句话：左边六件拿来就用，右边九件有指标没人做。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（主线 · 1.5 分钟）九条不要全念。只念 G2（跨单据）、G3（真实标签）、G6（中文数电票）三个 0 篇，其余说“备查页里都有”。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（备查）核心两句：字段比对不要用 LLM；判异常不一定用 LLM。依据是 0.24 / 0.29 / 0.49。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（主线 · 1 分钟）MALL 的图是全篇最有说服力的一张：同一模型，合成日志几乎不涨，真实日志才涨。结论——先证明数据带语义，再加 LLM。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（主线 · 1.5 分钟）四层对照讲清楚一件事：没有 L0/L1，你无法证明增益来自 AI 还是来自把流程自动化了。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（备查）只讲最后一行“换成预计算特征”：51 篇里只有 1 篇做全这个对照。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（备查）五个公开数据集 + 一句“凭证级标注 0 个”，这是后面要数据、要授权的最强理由。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（备查）当 checklist 用。被问“你们怎么保证结论可信”时翻这页，挑“只读摘要”和“accuracy 当主指标”两条。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（主线 · 45 秒）收口：四步计划 + 三个缺口优先级（G1+G2+G4）。最后那句边界要念出来。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（主线 · 45 秒）承诺页。三件事对应三个交付物，每件都有验收标准。讲完直接说“下周这个时间我们交这三样”。</a:t>
            </a:r>
          </a:p>
          <a:p/>
          <a:p>
            <a:r>
              <a:t>被问“时间不够怎么办”：砍 W3，保 W1/W2——检索和基线是后面所有工作的地基。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4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9FC4C6"/>
                </a:solidFill>
                <a:latin typeface="微软雅黑"/>
                <a:ea typeface="微软雅黑"/>
                <a:cs typeface="微软雅黑"/>
              </a:rPr>
              <a:t>大创 B 方向 · 前期调研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10241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 辅助的财务凭证与业务数据
交叉核验系统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529584"/>
            <a:ext cx="1280160" cy="45720"/>
          </a:xfrm>
          <a:prstGeom prst="rect">
            <a:avLst/>
          </a:prstGeom>
          <a:solidFill>
            <a:srgbClr val="B4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3767328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D8E6E7"/>
                </a:solidFill>
                <a:latin typeface="微软雅黑"/>
                <a:ea typeface="微软雅黑"/>
                <a:cs typeface="微软雅黑"/>
              </a:rPr>
              <a:t>六个前期调研问题的证据化回答：任务 · 数据 · 指标 · 缺口 · 实验设计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7492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8FADAF"/>
                </a:solidFill>
                <a:latin typeface="微软雅黑"/>
                <a:ea typeface="微软雅黑"/>
                <a:cs typeface="微软雅黑"/>
              </a:rPr>
              <a:t>语料：本地 51 篇 PDF（含 1 篇整本会议论文集）｜只读原文，不引外部资料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9496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8FADAF"/>
                </a:solidFill>
                <a:latin typeface="微软雅黑"/>
                <a:ea typeface="微软雅黑"/>
                <a:cs typeface="微软雅黑"/>
              </a:rPr>
              <a:t>全部数字回原文表格核对；语料未涉及的问题不回答、不推测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5925312"/>
            <a:ext cx="5669280" cy="9144"/>
          </a:xfrm>
          <a:prstGeom prst="rect">
            <a:avLst/>
          </a:prstGeom>
          <a:solidFill>
            <a:srgbClr val="2A5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6053328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C5D8DA"/>
                </a:solidFill>
                <a:latin typeface="微软雅黑"/>
                <a:ea typeface="微软雅黑"/>
                <a:cs typeface="微软雅黑"/>
              </a:rPr>
              <a:t>第 1 周组会 · 汇报人：＿＿＿＿＿＿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05332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00" b="1">
                <a:solidFill>
                  <a:srgbClr val="B4862B"/>
                </a:solidFill>
                <a:latin typeface="微软雅黑"/>
                <a:ea typeface="微软雅黑"/>
                <a:cs typeface="微软雅黑"/>
              </a:rPr>
              <a:t>v1.1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400" b="1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一页结论：这个方向现在站在哪儿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22960" cy="41148"/>
          </a:xfrm>
          <a:prstGeom prst="rect">
            <a:avLst/>
          </a:prstGeom>
          <a:solidFill>
            <a:srgbClr val="B4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C6B73"/>
                </a:solidFill>
                <a:latin typeface="微软雅黑"/>
                <a:ea typeface="微软雅黑"/>
                <a:cs typeface="微软雅黑"/>
              </a:rPr>
              <a:t>把六个问题压缩成四句话，后面每一页都在给这四句话出示证据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11064240" cy="103327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627632"/>
            <a:ext cx="45720" cy="1033271"/>
          </a:xfrm>
          <a:prstGeom prst="rect">
            <a:avLst/>
          </a:prstGeom>
          <a:solidFill>
            <a:srgbClr val="0B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6384" y="174650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B4862B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1737360"/>
            <a:ext cx="10149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1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51 篇里只有 1 篇做完了完整链路。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103120"/>
            <a:ext cx="10149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A454C"/>
                </a:solidFill>
                <a:latin typeface="微软雅黑"/>
                <a:ea typeface="微软雅黑"/>
                <a:cs typeface="微软雅黑"/>
              </a:rPr>
              <a:t>S1（IJAIS 2026）把公报文本抽成审计证据再与薪资系统比对：97% 抽取、最多 83% 提速——但只有 1 个州、1 套系统。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743200"/>
            <a:ext cx="11064240" cy="103327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43200"/>
            <a:ext cx="45720" cy="1033271"/>
          </a:xfrm>
          <a:prstGeom prst="rect">
            <a:avLst/>
          </a:prstGeom>
          <a:solidFill>
            <a:srgbClr val="0B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86384" y="286207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B4862B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2852928"/>
            <a:ext cx="10149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1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上游已经工业化，但换版式就断崖。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3218688"/>
            <a:ext cx="10149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A454C"/>
                </a:solidFill>
                <a:latin typeface="微软雅黑"/>
                <a:ea typeface="微软雅黑"/>
                <a:cs typeface="微软雅黑"/>
              </a:rPr>
              <a:t>FUNSD 94.4 / CORD 97.8；同一模型跨版式从 99% 掉到 56%，极端方法只剩 1–6%。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858768"/>
            <a:ext cx="11064240" cy="103327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66928" y="3858768"/>
            <a:ext cx="45720" cy="1033271"/>
          </a:xfrm>
          <a:prstGeom prst="rect">
            <a:avLst/>
          </a:prstGeom>
          <a:solidFill>
            <a:srgbClr val="0B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86384" y="3977639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B4862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" y="3968496"/>
            <a:ext cx="10149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1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判异常不必用 LLM。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7008" y="4334256"/>
            <a:ext cx="10149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A454C"/>
                </a:solidFill>
                <a:latin typeface="微软雅黑"/>
                <a:ea typeface="微软雅黑"/>
                <a:cs typeface="微软雅黑"/>
              </a:rPr>
              <a:t>LLM 单用 PR-AUC 0.24，GNN 0.29，GNN+约束+LLM 融合 0.49——LLM 的贡献在解释位，不在检测位。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974336"/>
            <a:ext cx="11064240" cy="103327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66928" y="4974336"/>
            <a:ext cx="45720" cy="1033271"/>
          </a:xfrm>
          <a:prstGeom prst="rect">
            <a:avLst/>
          </a:prstGeom>
          <a:solidFill>
            <a:srgbClr val="B4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86384" y="5093207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B4862B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8" y="5084064"/>
            <a:ext cx="10149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1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真正的空位是三个“0 篇”。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7008" y="5449823"/>
            <a:ext cx="10149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A454C"/>
                </a:solidFill>
                <a:latin typeface="微软雅黑"/>
                <a:ea typeface="微软雅黑"/>
                <a:cs typeface="微软雅黑"/>
              </a:rPr>
              <a:t>跨单据证据链 0 篇、真实舞弊标签 0 篇、中文数电票 0 篇。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D5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66928" y="6455664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850" b="0">
                <a:solidFill>
                  <a:srgbClr val="5C6B73"/>
                </a:solidFill>
                <a:latin typeface="微软雅黑"/>
                <a:ea typeface="微软雅黑"/>
                <a:cs typeface="微软雅黑"/>
              </a:rPr>
              <a:t>证据：仅本库 51 篇 PDF 原文；数字均回原文核对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61320" y="6455664"/>
            <a:ext cx="10698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900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02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组会自检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400" b="1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六个问题：四个答满，两个只到一半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22960" cy="41148"/>
          </a:xfrm>
          <a:prstGeom prst="rect">
            <a:avLst/>
          </a:prstGeom>
          <a:solidFill>
            <a:srgbClr val="B4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C6B73"/>
                </a:solidFill>
                <a:latin typeface="微软雅黑"/>
                <a:ea typeface="微软雅黑"/>
                <a:cs typeface="微软雅黑"/>
              </a:rPr>
              <a:t>第一周不要求答完六个问题，要求“知道自己答到哪、差的那块怎么补”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00784"/>
          <a:ext cx="11064237" cy="41330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11496"/>
                <a:gridCol w="3505083"/>
                <a:gridCol w="1689196"/>
                <a:gridCol w="886828"/>
                <a:gridCol w="2871634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9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团队的问题</a:t>
                      </a:r>
                    </a:p>
                  </a:txBody>
                  <a:tcPr marL="64008" marR="45720" marT="27432" marB="18288" anchor="ctr">
                    <a:solidFill>
                      <a:srgbClr val="0B5F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9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本周给出的答案</a:t>
                      </a:r>
                    </a:p>
                  </a:txBody>
                  <a:tcPr marL="64008" marR="45720" marT="27432" marB="18288" anchor="ctr">
                    <a:solidFill>
                      <a:srgbClr val="0B5F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9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证据量</a:t>
                      </a:r>
                    </a:p>
                  </a:txBody>
                  <a:tcPr marL="64008" marR="45720" marT="27432" marB="18288" anchor="ctr">
                    <a:solidFill>
                      <a:srgbClr val="0B5F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9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自评</a:t>
                      </a:r>
                    </a:p>
                  </a:txBody>
                  <a:tcPr marL="64008" marR="45720" marT="27432" marB="18288" anchor="ctr">
                    <a:solidFill>
                      <a:srgbClr val="0B5F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9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还差什么</a:t>
                      </a:r>
                    </a:p>
                  </a:txBody>
                  <a:tcPr marL="64008" marR="45720" marT="27432" marB="18288" anchor="ctr">
                    <a:solidFill>
                      <a:srgbClr val="0B5F6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9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Q1 发展到什么程度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六环节分级 + 每级的失效条件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 篇直接证据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90" b="1">
                          <a:solidFill>
                            <a:srgbClr val="2E7D5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答满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需再检索确认“0 篇”不是检索偏误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9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Q2 任务/数据/指标/结论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 行对照表（同题 8 + 上游 6）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每行都有原文数字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90" b="1">
                          <a:solidFill>
                            <a:srgbClr val="2E7D5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答满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个别论文只到摘要级信息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9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Q3 成熟方案与缺口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 个缺口，各带证据与可测指标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 条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90" b="1">
                          <a:solidFill>
                            <a:srgbClr val="2E7D5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答满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缺口表述要用更大检索面来证伪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9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Q4 六种技术的分工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 个环节 × 该用 / 不该用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每条 1–2 个数字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90" b="1">
                          <a:solidFill>
                            <a:srgbClr val="2E7D5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答满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Agent 一类证据最弱（多为演示）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9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Q5 是否真需要 AI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四档判断 + 语义增益的对照证据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 组对照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90" b="1">
                          <a:solidFill>
                            <a:srgbClr val="B486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部分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只在“属性值带语义”的数据上验证过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9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Q6 怎么设计实验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四层对照 + 指标口径 + 消融矩阵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 行消融先例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90" b="1">
                          <a:solidFill>
                            <a:srgbClr val="B486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部分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只是设计，还没有跑过任何实验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9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语料没覆盖的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真实企业账套 / 中文数电票 / 跨单据实现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语料 0 篇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90" b="1">
                          <a:solidFill>
                            <a:srgbClr val="B03A2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未涉及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9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需自建标注与数据，排到第 2–3 周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66928" y="5925312"/>
            <a:ext cx="11064240" cy="384048"/>
          </a:xfrm>
          <a:prstGeom prst="rect">
            <a:avLst/>
          </a:prstGeom>
          <a:solidFill>
            <a:srgbClr val="E6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5971032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60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一句话：第一周的交货标准不是“答完”，而是“让人相信你四周内答得完”——这版给了证据、给了边界、给了下一步。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D5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66928" y="6455664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850" b="0">
                <a:solidFill>
                  <a:srgbClr val="5C6B73"/>
                </a:solidFill>
                <a:latin typeface="微软雅黑"/>
                <a:ea typeface="微软雅黑"/>
                <a:cs typeface="微软雅黑"/>
              </a:rPr>
              <a:t>证据：仅本库 51 篇 PDF 原文；数字均回原文核对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6455664"/>
            <a:ext cx="10698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900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03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STEP 0 · 语料体检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400" b="1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51 篇里，真正同题的只有 1 篇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22960" cy="41148"/>
          </a:xfrm>
          <a:prstGeom prst="rect">
            <a:avLst/>
          </a:prstGeom>
          <a:solidFill>
            <a:srgbClr val="B4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C6B73"/>
                </a:solidFill>
                <a:latin typeface="微软雅黑"/>
                <a:ea typeface="微软雅黑"/>
                <a:cs typeface="微软雅黑"/>
              </a:rPr>
              <a:t>不做这一步，后面六个问题都会被“看起来相关”的论文带偏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0" y="329184"/>
            <a:ext cx="877824" cy="237744"/>
          </a:xfrm>
          <a:prstGeom prst="rect">
            <a:avLst/>
          </a:prstGeom>
          <a:solidFill>
            <a:srgbClr val="EC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515600" y="374904"/>
            <a:ext cx="877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750" b="0">
                <a:solidFill>
                  <a:srgbClr val="5C6B73"/>
                </a:solidFill>
                <a:latin typeface="微软雅黑"/>
                <a:ea typeface="微软雅黑"/>
                <a:cs typeface="微软雅黑"/>
              </a:rPr>
              <a:t>备查页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700784"/>
          <a:ext cx="7818119" cy="37124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92375"/>
                <a:gridCol w="596950"/>
                <a:gridCol w="4091996"/>
                <a:gridCol w="1636798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类别</a:t>
                      </a:r>
                    </a:p>
                  </a:txBody>
                  <a:tcPr marL="64008" marR="45720" marT="27432" marB="18288" anchor="ctr">
                    <a:solidFill>
                      <a:srgbClr val="0B5F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篇数</a:t>
                      </a:r>
                    </a:p>
                  </a:txBody>
                  <a:tcPr marL="64008" marR="45720" marT="27432" marB="18288" anchor="ctr">
                    <a:solidFill>
                      <a:srgbClr val="0B5F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篇目</a:t>
                      </a:r>
                    </a:p>
                  </a:txBody>
                  <a:tcPr marL="64008" marR="45720" marT="27432" marB="18288" anchor="ctr">
                    <a:solidFill>
                      <a:srgbClr val="0B5F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与本题的关系</a:t>
                      </a:r>
                    </a:p>
                  </a:txBody>
                  <a:tcPr marL="64008" marR="45720" marT="27432" marB="18288" anchor="ctr">
                    <a:solidFill>
                      <a:srgbClr val="0B5F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 完整链路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S1（Li et al. 2026, IJAIS）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唯一同题，单点示范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 凭证异常检测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Schreyer 17/19、Hemati 22、Bakumenko 25、Kawazura 26、CG-LGN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同任务，不同链路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 相邻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混合 ML-LLM、凭证 LVM、内审检索、Agentic、多智能体核查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方法可借，场景不同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 文档 / 票据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LayoutLM 系 13 + 发票抽取 6 + 模型压缩 1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上游能力，最成熟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 邻域异常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日志、图、时序、业务流程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指标可借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 排除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云存储审计×2、审计大模型×3、牙周炎、临床、审计市场实验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同形异义 / 领域外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8613648" y="1700784"/>
            <a:ext cx="3017520" cy="3310128"/>
          </a:xfrm>
          <a:prstGeom prst="rect">
            <a:avLst/>
          </a:prstGeom>
          <a:solidFill>
            <a:srgbClr val="E6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96528" y="1810512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三个必须先知道的事实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96528" y="2157984"/>
            <a:ext cx="26974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919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919" b="0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真实舞弊标签：0 篇。6 篇 JET 里 5 篇人工注入；S1 用真实数据但只评抽取。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919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919" b="0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“audit” 假阳性占排除项 2/3：云存储数据完整性审计、审计大模型。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919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919" b="0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1 篇文件名与内容不符：名为 MALL，实际是 ICSOC 2025 整本论文集（436 页）。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919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919" b="0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唯一同题的那篇发在会计信息系统期刊（IJAIS），不是 AI 会议。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D5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66928" y="6455664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850" b="0">
                <a:solidFill>
                  <a:srgbClr val="5C6B73"/>
                </a:solidFill>
                <a:latin typeface="微软雅黑"/>
                <a:ea typeface="微软雅黑"/>
                <a:cs typeface="微软雅黑"/>
              </a:rPr>
              <a:t>证据：仅本库 51 篇 PDF 原文；数字均回原文核对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61320" y="6455664"/>
            <a:ext cx="10698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900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04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Q1 · 成熟度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400" b="1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六个环节，成熟度差五个档次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22960" cy="41148"/>
          </a:xfrm>
          <a:prstGeom prst="rect">
            <a:avLst/>
          </a:prstGeom>
          <a:solidFill>
            <a:srgbClr val="B4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C6B73"/>
                </a:solidFill>
                <a:latin typeface="微软雅黑"/>
                <a:ea typeface="微软雅黑"/>
                <a:cs typeface="微软雅黑"/>
              </a:rPr>
              <a:t>不能笼统回答“发展到什么程度”——必须按环节说，且每个环节都有失效条件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00784"/>
          <a:ext cx="11064239" cy="41513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17320"/>
                <a:gridCol w="960120"/>
                <a:gridCol w="5760719"/>
                <a:gridCol w="292608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环节</a:t>
                      </a:r>
                    </a:p>
                  </a:txBody>
                  <a:tcPr marL="64008" marR="45720" marT="27432" marB="18288" anchor="ctr">
                    <a:solidFill>
                      <a:srgbClr val="0B5F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成熟度</a:t>
                      </a:r>
                    </a:p>
                  </a:txBody>
                  <a:tcPr marL="64008" marR="45720" marT="27432" marB="18288" anchor="ctr">
                    <a:solidFill>
                      <a:srgbClr val="0B5F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语料里的硬证据</a:t>
                      </a:r>
                    </a:p>
                  </a:txBody>
                  <a:tcPr marL="64008" marR="45720" marT="27432" marB="18288" anchor="ctr">
                    <a:solidFill>
                      <a:srgbClr val="0B5F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失效条件（原文）</a:t>
                      </a:r>
                    </a:p>
                  </a:txBody>
                  <a:tcPr marL="64008" marR="45720" marT="27432" marB="18288" anchor="ctr">
                    <a:solidFill>
                      <a:srgbClr val="0B5F66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① 看懂票据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2E7D5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工业化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FUNSD 94.4（GraphLayoutLM）、CORD 97.8；TRDLU PubLayNet mAP 95.95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版面框序打乱：LayoutLMv3 92.08→67.69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② 抽字段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2E7D5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成熟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FATURA 同版式 99%；SGFNet 中文 F1 96.27；OCR+LLM 零样本 0.94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跨版式：95.7 / 56.3 / 1–6%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③ 判异常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0B5F6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成型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SAP 真实数据 f1 32.9；532,789 条 + 120 注入 → 100% 召回 / 31 FP；合成 5 万条 PR-AUC 0.49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注入≠真舞弊；数据不公开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④ 抽→比 全链路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B486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单点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仅 S1：131 份 / 746 条 / 9 字段×150 → 97%；正则 87%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单点；97% 只评第②步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⑤ 解释归因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B486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起步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反事实精确 25% / 部分 82.5%；专家可行动性 3.6 vs 2.9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两套口径不可比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⑥ 跨单据核验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B03A2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空白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—（S1 只把它写成适用场景）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语料无任何一篇涉及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D5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6928" y="6455664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850" b="0">
                <a:solidFill>
                  <a:srgbClr val="5C6B73"/>
                </a:solidFill>
                <a:latin typeface="微软雅黑"/>
                <a:ea typeface="微软雅黑"/>
                <a:cs typeface="微软雅黑"/>
              </a:rPr>
              <a:t>证据：仅本库 51 篇 PDF 原文；数字均回原文核对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61320" y="6455664"/>
            <a:ext cx="10698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900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05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Q1 · 两个断崖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400" b="1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成熟度的另一面：条件一变，数字就换一个人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22960" cy="41148"/>
          </a:xfrm>
          <a:prstGeom prst="rect">
            <a:avLst/>
          </a:prstGeom>
          <a:solidFill>
            <a:srgbClr val="B4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C6B73"/>
                </a:solidFill>
                <a:latin typeface="微软雅黑"/>
                <a:ea typeface="微软雅黑"/>
                <a:cs typeface="微软雅黑"/>
              </a:rPr>
              <a:t>这两张断崖决定了你的系统“能用在哪”，也决定了答辩会被问什么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0" y="329184"/>
            <a:ext cx="877824" cy="237744"/>
          </a:xfrm>
          <a:prstGeom prst="rect">
            <a:avLst/>
          </a:prstGeom>
          <a:solidFill>
            <a:srgbClr val="EC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515600" y="374904"/>
            <a:ext cx="877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750" b="0">
                <a:solidFill>
                  <a:srgbClr val="5C6B73"/>
                </a:solidFill>
                <a:latin typeface="微软雅黑"/>
                <a:ea typeface="微软雅黑"/>
                <a:cs typeface="微软雅黑"/>
              </a:rPr>
              <a:t>备查页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66928" y="1700784"/>
          <a:ext cx="548640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55080" y="1783080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断崖一：跨版式（FATURA，10,000 张 / 50 版式）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139696"/>
            <a:ext cx="5257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000" b="1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同版式 99% 不是能力，是“见过这个模板”。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000" b="0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跨版式后，混合规则法只剩 56.3%，ViTLP 只剩 1–6%。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000" b="0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数据集本身假设“文本真值已知”——不承担 OCR 噪声。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3767328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断崖二：换域与换写法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4114800"/>
            <a:ext cx="52578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000" b="0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GSLayNet 在 FUNSD 上只有 34.43，自述输出崩溃（“same set of bounding boxes”）。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000" b="0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DocLLM 换域后分类 31.1，而 GPT-4 是 84.9。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000" b="0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LayoutLLM 自述“无法拒绝假阳性输出”——审计最不能接受的失效。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5230368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B4862B"/>
                </a:solidFill>
                <a:latin typeface="微软雅黑"/>
                <a:ea typeface="微软雅黑"/>
                <a:cs typeface="微软雅黑"/>
              </a:rPr>
              <a:t>→ 这两条断崖就是你开题里的“适用边界”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5541264"/>
            <a:ext cx="5257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60" b="0">
                <a:solidFill>
                  <a:srgbClr val="5C6B73"/>
                </a:solidFill>
                <a:latin typeface="微软雅黑"/>
                <a:ea typeface="微软雅黑"/>
                <a:cs typeface="微软雅黑"/>
              </a:rPr>
              <a:t>答辩必问：换成我们学校的票据还准吗？——用跨版式/跨机构测试回答，而不是用同版式的 99% 回答。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D5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66928" y="6455664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850" b="0">
                <a:solidFill>
                  <a:srgbClr val="5C6B73"/>
                </a:solidFill>
                <a:latin typeface="微软雅黑"/>
                <a:ea typeface="微软雅黑"/>
                <a:cs typeface="微软雅黑"/>
              </a:rPr>
              <a:t>数据来源：FATURA 论文 Table 与结果段；RobustLayoutLM、GSLayNet、DocLLM、LayoutLLM 原文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61320" y="6455664"/>
            <a:ext cx="10698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900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06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Q2 · 方法对照（1/2）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400" b="1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同题与近同题：任务 / 数据 / 指标 / 结论 / 局限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22960" cy="41148"/>
          </a:xfrm>
          <a:prstGeom prst="rect">
            <a:avLst/>
          </a:prstGeom>
          <a:solidFill>
            <a:srgbClr val="B4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C6B73"/>
                </a:solidFill>
                <a:latin typeface="微软雅黑"/>
                <a:ea typeface="微软雅黑"/>
                <a:cs typeface="微软雅黑"/>
              </a:rPr>
              <a:t>这是你写“相关工作”时真正会引的 8 行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682496"/>
          <a:ext cx="11064238" cy="45354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05016"/>
                <a:gridCol w="2327872"/>
                <a:gridCol w="2236583"/>
                <a:gridCol w="1597559"/>
                <a:gridCol w="2008360"/>
                <a:gridCol w="1688848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文献</a:t>
                      </a:r>
                    </a:p>
                  </a:txBody>
                  <a:tcPr marL="64008" marR="45720" marT="27432" marB="18288" anchor="ctr">
                    <a:solidFill>
                      <a:srgbClr val="0B5F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任务定义</a:t>
                      </a:r>
                    </a:p>
                  </a:txBody>
                  <a:tcPr marL="64008" marR="45720" marT="27432" marB="18288" anchor="ctr">
                    <a:solidFill>
                      <a:srgbClr val="0B5F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数据（公开性）</a:t>
                      </a:r>
                    </a:p>
                  </a:txBody>
                  <a:tcPr marL="64008" marR="45720" marT="27432" marB="18288" anchor="ctr">
                    <a:solidFill>
                      <a:srgbClr val="0B5F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指标</a:t>
                      </a:r>
                    </a:p>
                  </a:txBody>
                  <a:tcPr marL="64008" marR="45720" marT="27432" marB="18288" anchor="ctr">
                    <a:solidFill>
                      <a:srgbClr val="0B5F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主结果</a:t>
                      </a:r>
                    </a:p>
                  </a:txBody>
                  <a:tcPr marL="64008" marR="45720" marT="27432" marB="18288" anchor="ctr">
                    <a:solidFill>
                      <a:srgbClr val="0B5F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局限</a:t>
                      </a:r>
                    </a:p>
                  </a:txBody>
                  <a:tcPr marL="64008" marR="45720" marT="27432" marB="18288" anchor="ctr">
                    <a:solidFill>
                      <a:srgbClr val="0B5F66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S1 2026
IJAIS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公报→18 变量 schema→与薪资系统比对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巴西 DOE 131 份/746 条（私有）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字段级 TP/TN/FP/FN、耗时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97%（TP55+TN42）；3min→&lt;30s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单点；只评抽取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Kawazura 26
IEEE Access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凭证→异常+SHAP 归因+反事实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532,789 条 + 120 注入（私有）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召回/FPR/CF 命中/稀疏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100%/31FP；25%/82.5%/1.18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 类注入；看不到借贷平衡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CG-LGN 26
预印本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LLM+GNN+会计约束做 JET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合成 5 万/1,000 异常（私有）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PR-AUC/P@100/FP·1K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0.49 / 0.93 / 8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合成；直推式；LLM 事后附加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Schreyer 17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自编码器无监督打分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两套 SAP + 注入（私有）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F1、top-k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32.9 / 17.0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注入；不公开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Hemati 22
AAAI-W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流式数据的持续异常检测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费城 / 芝加哥市政支付（公开）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重建损失差 ΔFP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优于静态基线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不是 P/R/F1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Bakumenko 25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LLM 嵌入编码无语义属性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总账 32,100 条/148 异常（私有）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P/R/F1/AUC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LR/NN +0.03~0.06；RF/SVM 反号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增益随模型反号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凭证 LVM 25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LVM + 70 亿财务 LLM + Z-score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500 张，无标注协议（私有）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术语/数值/总体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95.2% vs 76.3%，+19.9%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无真值流程、无检验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混合 ML-LLM 25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规则→LLM 富化→GBM→决策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~1800 万条/3 个月（私有）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AUC-PR、Recall@1%FPR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0.67→0.76→0.83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单一机构；LLM 离线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D5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6928" y="6455664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850" b="0">
                <a:solidFill>
                  <a:srgbClr val="5C6B73"/>
                </a:solidFill>
                <a:latin typeface="微软雅黑"/>
                <a:ea typeface="微软雅黑"/>
                <a:cs typeface="微软雅黑"/>
              </a:rPr>
              <a:t>全部数字来自各篇原文表格；CG-LGN 为预印本；口径不同，横向不可直接比较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61320" y="6455664"/>
            <a:ext cx="10698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900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07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Q2 · 方法对照（2/2）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400" b="1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上游抽取：这一层你只能“用”，不能“创新”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22960" cy="41148"/>
          </a:xfrm>
          <a:prstGeom prst="rect">
            <a:avLst/>
          </a:prstGeom>
          <a:solidFill>
            <a:srgbClr val="B4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C6B73"/>
                </a:solidFill>
                <a:latin typeface="微软雅黑"/>
                <a:ea typeface="微软雅黑"/>
                <a:cs typeface="微软雅黑"/>
              </a:rPr>
              <a:t>公开可下的只有 FATURA / SROIE；其余全部私有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0" y="329184"/>
            <a:ext cx="877824" cy="237744"/>
          </a:xfrm>
          <a:prstGeom prst="rect">
            <a:avLst/>
          </a:prstGeom>
          <a:solidFill>
            <a:srgbClr val="EC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515600" y="374904"/>
            <a:ext cx="877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750" b="0">
                <a:solidFill>
                  <a:srgbClr val="5C6B73"/>
                </a:solidFill>
                <a:latin typeface="微软雅黑"/>
                <a:ea typeface="微软雅黑"/>
                <a:cs typeface="微软雅黑"/>
              </a:rPr>
              <a:t>备查页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682496"/>
          <a:ext cx="11064237" cy="36941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43654"/>
                <a:gridCol w="2573079"/>
                <a:gridCol w="986346"/>
                <a:gridCol w="1629616"/>
                <a:gridCol w="2573079"/>
                <a:gridCol w="2058463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文献</a:t>
                      </a:r>
                    </a:p>
                  </a:txBody>
                  <a:tcPr marL="64008" marR="45720" marT="27432" marB="18288" anchor="ctr">
                    <a:solidFill>
                      <a:srgbClr val="0B5F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</a:t>
                      </a:r>
                    </a:p>
                  </a:txBody>
                  <a:tcPr marL="64008" marR="45720" marT="27432" marB="18288" anchor="ctr">
                    <a:solidFill>
                      <a:srgbClr val="0B5F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公开</a:t>
                      </a:r>
                    </a:p>
                  </a:txBody>
                  <a:tcPr marL="64008" marR="45720" marT="27432" marB="18288" anchor="ctr">
                    <a:solidFill>
                      <a:srgbClr val="0B5F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指标</a:t>
                      </a:r>
                    </a:p>
                  </a:txBody>
                  <a:tcPr marL="64008" marR="45720" marT="27432" marB="18288" anchor="ctr">
                    <a:solidFill>
                      <a:srgbClr val="0B5F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主结果</a:t>
                      </a:r>
                    </a:p>
                  </a:txBody>
                  <a:tcPr marL="64008" marR="45720" marT="27432" marB="18288" anchor="ctr">
                    <a:solidFill>
                      <a:srgbClr val="0B5F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关键局限</a:t>
                      </a:r>
                    </a:p>
                  </a:txBody>
                  <a:tcPr marL="64008" marR="45720" marT="27432" marB="18288" anchor="ctr">
                    <a:solidFill>
                      <a:srgbClr val="0B5F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FATURA 2025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10,000 张 / 50 版式 / 24 类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✅ Zenodo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mAP / F1 / TED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同版式 99%；跨版式 95.7（LayoutLMv3）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合成、无扫描噪声、仅英文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OCRMiner 2022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120 张 / 76 供应商 / 1,523 值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❌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match/partial/mismatch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英 90% / 捷 88%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无关键词时分不清买卖方块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Arabic+Latin 18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1,050 张真实扫描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❌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各实体 rates（图）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“up to 92%”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OCR 错误导致大量丢失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LayoutLM/GCN 24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1,450 张 / 57 类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❌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P/R/F1/Acc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F1 0.72 / Acc 0.99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Acc 被真负例抬高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LLM-centric 24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SROIE + FATURA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✅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Jaro-Winkler F1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0.94–0.95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提示里没有版面坐标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SGFNet 2024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180 张真实→增广 1,000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❌ 需申请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P/R/F1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 96.27 / 英 93.71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靠裁剪增广；无方差报告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66928" y="5596128"/>
            <a:ext cx="11064240" cy="566928"/>
          </a:xfrm>
          <a:prstGeom prst="rect">
            <a:avLst/>
          </a:prstGeom>
          <a:solidFill>
            <a:srgbClr val="E6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9808" y="5687568"/>
            <a:ext cx="107899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一句话：字段抽取这一层已经有公开数据集和 0.9+ 的 F1，硕士/本科课题在这一层做不出新东西——它只能是你的第 1 步，不是你的贡献点。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D5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66928" y="6455664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850" b="0">
                <a:solidFill>
                  <a:srgbClr val="5C6B73"/>
                </a:solidFill>
                <a:latin typeface="微软雅黑"/>
                <a:ea typeface="微软雅黑"/>
                <a:cs typeface="微软雅黑"/>
              </a:rPr>
              <a:t>证据：仅本库 51 篇 PDF 原文；数字均回原文核对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6455664"/>
            <a:ext cx="10698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900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08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Q3 · 成熟 vs 缺口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400" b="1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六件事已经可以直接用，九件事没人做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22960" cy="41148"/>
          </a:xfrm>
          <a:prstGeom prst="rect">
            <a:avLst/>
          </a:prstGeom>
          <a:solidFill>
            <a:srgbClr val="B4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C6B73"/>
                </a:solidFill>
                <a:latin typeface="微软雅黑"/>
                <a:ea typeface="微软雅黑"/>
                <a:cs typeface="微软雅黑"/>
              </a:rPr>
              <a:t>左边是“别重复造”，右边是“你的机会”，每个缺口后面都跟一个可测指标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0" y="329184"/>
            <a:ext cx="877824" cy="237744"/>
          </a:xfrm>
          <a:prstGeom prst="rect">
            <a:avLst/>
          </a:prstGeom>
          <a:solidFill>
            <a:srgbClr val="EC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515600" y="374904"/>
            <a:ext cx="877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750" b="0">
                <a:solidFill>
                  <a:srgbClr val="5C6B73"/>
                </a:solidFill>
                <a:latin typeface="微软雅黑"/>
                <a:ea typeface="微软雅黑"/>
                <a:cs typeface="微软雅黑"/>
              </a:rPr>
              <a:t>备查页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00784"/>
            <a:ext cx="53492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86384" y="181051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✅ 已有成熟方案（直接用）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57984"/>
            <a:ext cx="493776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019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019" b="0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版面 / 表格识别：FUNSD 94.4、CORD 97.8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019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019" b="0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票据字段抽取：同版式 99%、零样本 0.94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019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019" b="0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等值 / 容差比对：规则，S1 全程无 LLM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019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019" b="0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单条异常打分：AE / IF / OCSVM / GNN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019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019" b="0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属性级归因：SHAP + 反事实（0.06 s/条）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019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019" b="0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检索定位：BGE-M3 级，Top-1 82.5%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019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019" b="0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模型压缩：8 层蒸馏 0.9475（教师 0.9507）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4768" y="1700784"/>
            <a:ext cx="5486400" cy="3611880"/>
          </a:xfrm>
          <a:prstGeom prst="rect">
            <a:avLst/>
          </a:prstGeom>
          <a:solidFill>
            <a:srgbClr val="FBF2F0"/>
          </a:solidFill>
          <a:ln w="12700">
            <a:solidFill>
              <a:srgbClr val="E8C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64224" y="181051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B03A2E"/>
                </a:solidFill>
                <a:latin typeface="微软雅黑"/>
                <a:ea typeface="微软雅黑"/>
                <a:cs typeface="微软雅黑"/>
              </a:rPr>
              <a:t>◻ 可测缺口（语料里 0 篇）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2157984"/>
            <a:ext cx="507492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019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019" b="0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跨单据证据链：发票↔订单↔入库↔付款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019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019" b="0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端到端联合指标：字段级 + 结论级同时报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019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019" b="0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真实舞弊标签：现有全是注入 / 合成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019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019" b="0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主键误差 → 结论翻转的传播量化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019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019" b="0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误报的人工复核成本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019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019" b="0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中文数电票 / 中国准则场景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019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019" b="0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解释质量的统一口径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019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019" b="0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模型升级后的静默退化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019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019" b="0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LLM 增益的归因对照（预计算特征 vs 现算）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5440680"/>
            <a:ext cx="11064240" cy="749808"/>
          </a:xfrm>
          <a:prstGeom prst="rect">
            <a:avLst/>
          </a:prstGeom>
          <a:solidFill>
            <a:srgbClr val="E6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49808" y="5522976"/>
            <a:ext cx="1078992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读法：左边六件是“拿来就用”的成熟件，右边九件是“有指标可测、但语料里没人做”的空位。你的开题只需要从右边挑 3 条。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D5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66928" y="6455664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850" b="0">
                <a:solidFill>
                  <a:srgbClr val="5C6B73"/>
                </a:solidFill>
                <a:latin typeface="微软雅黑"/>
                <a:ea typeface="微软雅黑"/>
                <a:cs typeface="微软雅黑"/>
              </a:rPr>
              <a:t>证据：仅本库 51 篇 PDF 原文；数字均回原文核对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61320" y="6455664"/>
            <a:ext cx="10698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900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09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Q3 · 缺口清单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400" b="1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九个缺口，每个都带证据和指标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22960" cy="41148"/>
          </a:xfrm>
          <a:prstGeom prst="rect">
            <a:avLst/>
          </a:prstGeom>
          <a:solidFill>
            <a:srgbClr val="B4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C6B73"/>
                </a:solidFill>
                <a:latin typeface="微软雅黑"/>
                <a:ea typeface="微软雅黑"/>
                <a:cs typeface="微软雅黑"/>
              </a:rPr>
              <a:t>写进开题时只挑 3 条；九条全写会显得没有取舍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682496"/>
          <a:ext cx="11064238" cy="43891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42569"/>
                <a:gridCol w="2212848"/>
                <a:gridCol w="5841918"/>
                <a:gridCol w="2566903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#</a:t>
                      </a:r>
                    </a:p>
                  </a:txBody>
                  <a:tcPr marL="64008" marR="45720" marT="27432" marB="18288" anchor="ctr">
                    <a:solidFill>
                      <a:srgbClr val="0B5F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缺口</a:t>
                      </a:r>
                    </a:p>
                  </a:txBody>
                  <a:tcPr marL="64008" marR="45720" marT="27432" marB="18288" anchor="ctr">
                    <a:solidFill>
                      <a:srgbClr val="0B5F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语料证据（谁缺、谁承认）</a:t>
                      </a:r>
                    </a:p>
                  </a:txBody>
                  <a:tcPr marL="64008" marR="45720" marT="27432" marB="18288" anchor="ctr">
                    <a:solidFill>
                      <a:srgbClr val="0B5F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可测指标</a:t>
                      </a:r>
                    </a:p>
                  </a:txBody>
                  <a:tcPr marL="64008" marR="45720" marT="27432" marB="18288" anchor="ctr">
                    <a:solidFill>
                      <a:srgbClr val="0B5F6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G1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端到端联合指标缺失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S1 明写只评第②步；51 篇无一同时报字段级+端到端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端到端误报/千条、链路成功率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G2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跨单据核验 0 篇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全语料无发票↔订单↔入库↔付款；S1 只写成适用场景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链覆盖率、断链定位准确率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G3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真实异常标签 0 篇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Kawazura 4 类注入；CG-LGN 合成；Schreyer 注入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真实样本 P/R、复核采纳率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G4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主键误差传播未量化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S1 自报工号 TP 42%、FP 5%，但没做传播实验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结论翻转率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G5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误报的人工成本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31 个 FP 只做排序；S1 耗时不含排查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每百条复核分钟数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G6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中文数电票 0 篇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SGFNet 是中文发票但非数电票；FATURA/SROIE 全英文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中文票种字段级 F1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G7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解释口径不统一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一个“改对字段没有”，一个专家 Likert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精确/部分命中 + ICC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G8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模型升级静默退化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S1 只写进 future work，没有实验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跨版本准确率漂移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G9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LLM 增益归因只 1 篇做全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混合 ML-LLM 有“预计算特征”对照，其余没有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规则/+ML/+LLM 三档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053328"/>
            <a:ext cx="11064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850" b="0">
                <a:solidFill>
                  <a:srgbClr val="5C6B73"/>
                </a:solidFill>
                <a:latin typeface="微软雅黑"/>
                <a:ea typeface="微软雅黑"/>
                <a:cs typeface="微软雅黑"/>
              </a:rPr>
              <a:t>表述一律限定为“这 51 篇里没有”，不是“全世界没人做”。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D5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66928" y="6455664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850" b="0">
                <a:solidFill>
                  <a:srgbClr val="5C6B73"/>
                </a:solidFill>
                <a:latin typeface="微软雅黑"/>
                <a:ea typeface="微软雅黑"/>
                <a:cs typeface="微软雅黑"/>
              </a:rPr>
              <a:t>写进开题时只挑 3 条；九条全写会显得没有取舍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455664"/>
            <a:ext cx="10698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900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Q4 · 技术分工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400" b="1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六种技术不是一个赛道，各占一个位置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22960" cy="41148"/>
          </a:xfrm>
          <a:prstGeom prst="rect">
            <a:avLst/>
          </a:prstGeom>
          <a:solidFill>
            <a:srgbClr val="B4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C6B73"/>
                </a:solidFill>
                <a:latin typeface="微软雅黑"/>
                <a:ea typeface="微软雅黑"/>
                <a:cs typeface="微软雅黑"/>
              </a:rPr>
              <a:t>“用了大模型”不构成创新；“把 LLM 放在正确的位置”才是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0" y="329184"/>
            <a:ext cx="877824" cy="237744"/>
          </a:xfrm>
          <a:prstGeom prst="rect">
            <a:avLst/>
          </a:prstGeom>
          <a:solidFill>
            <a:srgbClr val="EC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515600" y="374904"/>
            <a:ext cx="877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750" b="0">
                <a:solidFill>
                  <a:srgbClr val="5C6B73"/>
                </a:solidFill>
                <a:latin typeface="微软雅黑"/>
                <a:ea typeface="微软雅黑"/>
                <a:cs typeface="微软雅黑"/>
              </a:rPr>
              <a:t>备查页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682496"/>
          <a:ext cx="11064239" cy="43891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15386"/>
                <a:gridCol w="3430772"/>
                <a:gridCol w="2487309"/>
                <a:gridCol w="3430772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环节</a:t>
                      </a:r>
                    </a:p>
                  </a:txBody>
                  <a:tcPr marL="64008" marR="45720" marT="27432" marB="18288" anchor="ctr">
                    <a:solidFill>
                      <a:srgbClr val="0B5F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该用</a:t>
                      </a:r>
                    </a:p>
                  </a:txBody>
                  <a:tcPr marL="64008" marR="45720" marT="27432" marB="18288" anchor="ctr">
                    <a:solidFill>
                      <a:srgbClr val="0B5F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不该用</a:t>
                      </a:r>
                    </a:p>
                  </a:txBody>
                  <a:tcPr marL="64008" marR="45720" marT="27432" marB="18288" anchor="ctr">
                    <a:solidFill>
                      <a:srgbClr val="0B5F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语料依据</a:t>
                      </a:r>
                    </a:p>
                  </a:txBody>
                  <a:tcPr marL="64008" marR="45720" marT="27432" marB="18288" anchor="ctr">
                    <a:solidFill>
                      <a:srgbClr val="0B5F66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图片 → 结构化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文档解析：LayoutLMv3 / Donut / DocLLM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模板与正则（长尾版式崩）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跨版式 56.3% / 1–6%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文本 → 字段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LLM + schema 约束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97% vs 正则 87%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字段比对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规则（等值/容差）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❌ LLM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S1 第③步全规则；0 篇用 LLM 比对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判哪条可疑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传统 ML：AE / IF / OCSVM / GNN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❌ 纯 LLM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0.24（LLM）＜0.29（GNN）＜0.49（融合）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解释为什么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LLM + SHAP / 反事实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纯规则（给不出改法）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可行动性 3.6 vs 2.9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跨文档检索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嵌入检索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BGE-M3 Top-1 82.5%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流程编排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Agent（谨慎）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单轮 LLM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多智能体核查仅有定性演示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无语义属性表示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LLM 嵌入（看数据）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一刀切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真实日志涨、合成几乎不涨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D5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66928" y="6455664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850" b="0">
                <a:solidFill>
                  <a:srgbClr val="5C6B73"/>
                </a:solidFill>
                <a:latin typeface="微软雅黑"/>
                <a:ea typeface="微软雅黑"/>
                <a:cs typeface="微软雅黑"/>
              </a:rPr>
              <a:t>证据：仅本库 51 篇 PDF 原文；数字均回原文核对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6455664"/>
            <a:ext cx="10698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900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Q5 · 是否需要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400" b="1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四件事里，两件不需要，一件不必须是 LLM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22960" cy="41148"/>
          </a:xfrm>
          <a:prstGeom prst="rect">
            <a:avLst/>
          </a:prstGeom>
          <a:solidFill>
            <a:srgbClr val="B4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C6B73"/>
                </a:solidFill>
                <a:latin typeface="微软雅黑"/>
                <a:ea typeface="微软雅黑"/>
                <a:cs typeface="微软雅黑"/>
              </a:rPr>
              <a:t>把“用不用 AI”从立场问题改成分工问题——这是最能站住脚的写法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682496"/>
          <a:ext cx="6903716" cy="32186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80159"/>
                <a:gridCol w="1691639"/>
                <a:gridCol w="1920239"/>
                <a:gridCol w="2011679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环节</a:t>
                      </a:r>
                    </a:p>
                  </a:txBody>
                  <a:tcPr marL="64008" marR="45720" marT="27432" marB="18288" anchor="ctr">
                    <a:solidFill>
                      <a:srgbClr val="0B5F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需要 AI 吗</a:t>
                      </a:r>
                    </a:p>
                  </a:txBody>
                  <a:tcPr marL="64008" marR="45720" marT="27432" marB="18288" anchor="ctr">
                    <a:solidFill>
                      <a:srgbClr val="0B5F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证据</a:t>
                      </a:r>
                    </a:p>
                  </a:txBody>
                  <a:tcPr marL="64008" marR="45720" marT="27432" marB="18288" anchor="ctr">
                    <a:solidFill>
                      <a:srgbClr val="0B5F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边界</a:t>
                      </a:r>
                    </a:p>
                  </a:txBody>
                  <a:tcPr marL="64008" marR="45720" marT="27432" marB="18288" anchor="ctr">
                    <a:solidFill>
                      <a:srgbClr val="0B5F66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长文本→字段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需要，已是必选项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97% vs 87%；零样本 F1 0.94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只在半结构化+有法定惯例上成立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字段比对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不需要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全程规则，0 篇反例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 LLM 只引入不可解释的幻觉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判异常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需要，但不必是 LLM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0.24 / 0.29 / 0.49；GBM 0.67→0.83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LLM 可能只是读懂了预计算特征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解释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需要，且要专门方法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反事实精确仅 25%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解释 ≠ 因果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699248" y="1682496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关键证据：语义增益只在真实数据上出现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644383" y="2011680"/>
          <a:ext cx="4005072" cy="2377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644383" y="4526280"/>
            <a:ext cx="4023360" cy="1572768"/>
          </a:xfrm>
          <a:prstGeom prst="rect">
            <a:avLst/>
          </a:prstGeom>
          <a:solidFill>
            <a:srgbClr val="E6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90688" y="4617720"/>
            <a:ext cx="374903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19" b="0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合成日志：0.927→0.937（几乎没涨）
真实日志：0.640→0.661，属性级 0.460→0.495
推论：先证明你的数据“属性值带语义”，再加 LLM。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D5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66928" y="6455664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850" b="0">
                <a:solidFill>
                  <a:srgbClr val="5C6B73"/>
                </a:solidFill>
                <a:latin typeface="微软雅黑"/>
                <a:ea typeface="微软雅黑"/>
                <a:cs typeface="微软雅黑"/>
              </a:rPr>
              <a:t>数据来源：MALL（ICSOC 2025）Table 2 与消融段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6455664"/>
            <a:ext cx="10698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900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Q6 · 实验设计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400" b="1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四层对照 + 六个指标 + 一组消融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22960" cy="41148"/>
          </a:xfrm>
          <a:prstGeom prst="rect">
            <a:avLst/>
          </a:prstGeom>
          <a:solidFill>
            <a:srgbClr val="B4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C6B73"/>
                </a:solidFill>
                <a:latin typeface="微软雅黑"/>
                <a:ea typeface="微软雅黑"/>
                <a:cs typeface="微软雅黑"/>
              </a:rPr>
              <a:t>缺任何一层，都无法回答“增益来自 AI 还是来自把流程自动化了”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37360"/>
            <a:ext cx="5029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737360"/>
            <a:ext cx="530352" cy="841248"/>
          </a:xfrm>
          <a:prstGeom prst="rect">
            <a:avLst/>
          </a:prstGeom>
          <a:solidFill>
            <a:srgbClr val="5C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6928" y="1993391"/>
            <a:ext cx="53035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6" y="1856231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纯规则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296" y="2167128"/>
            <a:ext cx="4206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880" b="0">
                <a:solidFill>
                  <a:srgbClr val="5C6B73"/>
                </a:solidFill>
                <a:latin typeface="微软雅黑"/>
                <a:ea typeface="微软雅黑"/>
                <a:cs typeface="微软雅黑"/>
              </a:rPr>
              <a:t>等值/容差/阈值（JET Rules：PR-AUC 0.03）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670048"/>
            <a:ext cx="5029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670048"/>
            <a:ext cx="530352" cy="841248"/>
          </a:xfrm>
          <a:prstGeom prst="rect">
            <a:avLst/>
          </a:prstGeom>
          <a:solidFill>
            <a:srgbClr val="4A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66928" y="2926080"/>
            <a:ext cx="53035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278892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L0 + 传统 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3099815"/>
            <a:ext cx="4206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880" b="0">
                <a:solidFill>
                  <a:srgbClr val="5C6B73"/>
                </a:solidFill>
                <a:latin typeface="微软雅黑"/>
                <a:ea typeface="微软雅黑"/>
                <a:cs typeface="微软雅黑"/>
              </a:rPr>
              <a:t>AE / GNN / IF（GNN-only：0.29）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602736"/>
            <a:ext cx="5029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66928" y="3602736"/>
            <a:ext cx="530352" cy="841248"/>
          </a:xfrm>
          <a:prstGeom prst="rect">
            <a:avLst/>
          </a:prstGeom>
          <a:solidFill>
            <a:srgbClr val="0B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928" y="3858768"/>
            <a:ext cx="53035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5296" y="372160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L1 + LLM 抽取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5296" y="4032504"/>
            <a:ext cx="4206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880" b="0">
                <a:solidFill>
                  <a:srgbClr val="5C6B73"/>
                </a:solidFill>
                <a:latin typeface="微软雅黑"/>
                <a:ea typeface="微软雅黑"/>
                <a:cs typeface="微软雅黑"/>
              </a:rPr>
              <a:t>文本→字段（S1：97% vs 正则 87%）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535424"/>
            <a:ext cx="5029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66928" y="4535424"/>
            <a:ext cx="530352" cy="841248"/>
          </a:xfrm>
          <a:prstGeom prst="rect">
            <a:avLst/>
          </a:prstGeom>
          <a:solidFill>
            <a:srgbClr val="B4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66928" y="4791456"/>
            <a:ext cx="53035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5296" y="4654296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L2 + LLM 解释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5296" y="4965192"/>
            <a:ext cx="4206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880" b="0">
                <a:solidFill>
                  <a:srgbClr val="5C6B73"/>
                </a:solidFill>
                <a:latin typeface="微软雅黑"/>
                <a:ea typeface="微软雅黑"/>
                <a:cs typeface="微软雅黑"/>
              </a:rPr>
              <a:t>SHAP + 反事实（0.06 s/条）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852160" y="1737360"/>
          <a:ext cx="5806437" cy="30175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60119"/>
                <a:gridCol w="2834639"/>
                <a:gridCol w="2011679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维度</a:t>
                      </a:r>
                    </a:p>
                  </a:txBody>
                  <a:tcPr marL="64008" marR="45720" marT="27432" marB="18288" anchor="ctr">
                    <a:solidFill>
                      <a:srgbClr val="0B5F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指标</a:t>
                      </a:r>
                    </a:p>
                  </a:txBody>
                  <a:tcPr marL="64008" marR="45720" marT="27432" marB="18288" anchor="ctr">
                    <a:solidFill>
                      <a:srgbClr val="0B5F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出处</a:t>
                      </a:r>
                    </a:p>
                  </a:txBody>
                  <a:tcPr marL="64008" marR="45720" marT="27432" marB="18288" anchor="ctr">
                    <a:solidFill>
                      <a:srgbClr val="0B5F6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字段级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TP/TN/FP/FN 分字段，主键单列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S1（55+42=97）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端到端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每百条复核命中数、FP/千条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CG-LGN 8、Kawazura 31 FP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效率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单条耗时 + 排查时间单列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S1 3min→30s（不含排查）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解释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精确/部分命中 + 稀疏度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25% / 82.5% / 1.18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真人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专家 Likert + ICC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ICC 0.72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稳定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跨版本漂移、时间切分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91% vs 79%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</a:tr>
            </a:tbl>
          </a:graphicData>
        </a:graphic>
      </p:graphicFrame>
      <p:sp>
        <p:nvSpPr>
          <p:cNvPr id="28" name="Rectangle 27"/>
          <p:cNvSpPr/>
          <p:nvPr/>
        </p:nvSpPr>
        <p:spPr>
          <a:xfrm>
            <a:off x="566928" y="5504688"/>
            <a:ext cx="5029200" cy="658368"/>
          </a:xfrm>
          <a:prstGeom prst="rect">
            <a:avLst/>
          </a:prstGeom>
          <a:solidFill>
            <a:srgbClr val="FBF2F0"/>
          </a:solidFill>
          <a:ln w="12700">
            <a:solidFill>
              <a:srgbClr val="E8C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13232" y="5577840"/>
            <a:ext cx="47548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80" b="1">
                <a:solidFill>
                  <a:srgbClr val="B03A2E"/>
                </a:solidFill>
                <a:latin typeface="微软雅黑"/>
                <a:ea typeface="微软雅黑"/>
                <a:cs typeface="微软雅黑"/>
              </a:rPr>
              <a:t>合成/真实两栏永不合并；标签来源写清（几人几轮、一致性）；阈值 label-free。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D5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66928" y="6455664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850" b="0">
                <a:solidFill>
                  <a:srgbClr val="5C6B73"/>
                </a:solidFill>
                <a:latin typeface="微软雅黑"/>
                <a:ea typeface="微软雅黑"/>
                <a:cs typeface="微软雅黑"/>
              </a:rPr>
              <a:t>证据：仅本库 51 篇 PDF 原文；数字均回原文核对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61320" y="6455664"/>
            <a:ext cx="10698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900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Q6 · 消融矩阵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400" b="1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去掉什么，才能证明什么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22960" cy="41148"/>
          </a:xfrm>
          <a:prstGeom prst="rect">
            <a:avLst/>
          </a:prstGeom>
          <a:solidFill>
            <a:srgbClr val="B4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C6B73"/>
                </a:solidFill>
                <a:latin typeface="微软雅黑"/>
                <a:ea typeface="微软雅黑"/>
                <a:cs typeface="微软雅黑"/>
              </a:rPr>
              <a:t>每一行都对应语料里一个已经做过的对照——照抄结构，不照抄结论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0" y="329184"/>
            <a:ext cx="877824" cy="237744"/>
          </a:xfrm>
          <a:prstGeom prst="rect">
            <a:avLst/>
          </a:prstGeom>
          <a:solidFill>
            <a:srgbClr val="EC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515600" y="374904"/>
            <a:ext cx="877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750" b="0">
                <a:solidFill>
                  <a:srgbClr val="5C6B73"/>
                </a:solidFill>
                <a:latin typeface="微软雅黑"/>
                <a:ea typeface="微软雅黑"/>
                <a:cs typeface="微软雅黑"/>
              </a:rPr>
              <a:t>备查页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682496"/>
          <a:ext cx="11064237" cy="36210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87309"/>
                <a:gridCol w="3001925"/>
                <a:gridCol w="3345002"/>
                <a:gridCol w="2230001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去掉什么</a:t>
                      </a:r>
                    </a:p>
                  </a:txBody>
                  <a:tcPr marL="64008" marR="45720" marT="27432" marB="18288" anchor="ctr">
                    <a:solidFill>
                      <a:srgbClr val="0B5F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预期结果</a:t>
                      </a:r>
                    </a:p>
                  </a:txBody>
                  <a:tcPr marL="64008" marR="45720" marT="27432" marB="18288" anchor="ctr">
                    <a:solidFill>
                      <a:srgbClr val="0B5F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它证明什么</a:t>
                      </a:r>
                    </a:p>
                  </a:txBody>
                  <a:tcPr marL="64008" marR="45720" marT="27432" marB="18288" anchor="ctr">
                    <a:solidFill>
                      <a:srgbClr val="0B5F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语料先例</a:t>
                      </a:r>
                    </a:p>
                  </a:txBody>
                  <a:tcPr marL="64008" marR="45720" marT="27432" marB="18288" anchor="ctr">
                    <a:solidFill>
                      <a:srgbClr val="0B5F6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LLM 抽取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召回大跌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LLM 在抽取位有用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97% vs 87%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换成“LLM 预计算特征”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若几乎不变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LLM 只是读懂了特征，不是会检测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0.76 vs 0.67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会计约束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PR-AUC −14%、FP +50%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领域约束是必要的，不是装饰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CG-LGN 消融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GNN / 结构建模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PR-AUC −43%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结构关系是主贡献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CG-LGN 消融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解释模块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检测不变、人工复核耗时上升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解释的价值只能用人的时间证明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Kawazura 分开评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换小模型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精度降、成本降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成本-精度曲线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GPT-4 vs 7B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换版式 / 换语种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断崖下降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泛化边界在哪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FATURA 99→56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66928" y="5394960"/>
            <a:ext cx="11064240" cy="786384"/>
          </a:xfrm>
          <a:prstGeom prst="rect">
            <a:avLst/>
          </a:prstGeom>
          <a:solidFill>
            <a:srgbClr val="E6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9808" y="5477256"/>
            <a:ext cx="107899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60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最容易被忽略的一行：把 LLM 换成“预先算好的特征”。如果指标几乎不变，说明 LLM 的贡献只是“读懂了别人算好的分数”——这一条对照，51 篇里只有 1 篇做全。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D5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66928" y="6455664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850" b="0">
                <a:solidFill>
                  <a:srgbClr val="5C6B73"/>
                </a:solidFill>
                <a:latin typeface="微软雅黑"/>
                <a:ea typeface="微软雅黑"/>
                <a:cs typeface="微软雅黑"/>
              </a:rPr>
              <a:t>证据：仅本库 51 篇 PDF 原文；数字均回原文核对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6455664"/>
            <a:ext cx="10698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900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交付物 · 可复现基线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400" b="1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能直接下的数据集只有 5 个，凭证级标注一个都没有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22960" cy="41148"/>
          </a:xfrm>
          <a:prstGeom prst="rect">
            <a:avLst/>
          </a:prstGeom>
          <a:solidFill>
            <a:srgbClr val="B4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C6B73"/>
                </a:solidFill>
                <a:latin typeface="微软雅黑"/>
                <a:ea typeface="微软雅黑"/>
                <a:cs typeface="微软雅黑"/>
              </a:rPr>
              <a:t>“可复现”= 数据公开 + 超参给出 + 协议可查，缺一降级为“参考”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0" y="329184"/>
            <a:ext cx="877824" cy="237744"/>
          </a:xfrm>
          <a:prstGeom prst="rect">
            <a:avLst/>
          </a:prstGeom>
          <a:solidFill>
            <a:srgbClr val="EC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515600" y="374904"/>
            <a:ext cx="877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750" b="0">
                <a:solidFill>
                  <a:srgbClr val="5C6B73"/>
                </a:solidFill>
                <a:latin typeface="微软雅黑"/>
                <a:ea typeface="微软雅黑"/>
                <a:cs typeface="微软雅黑"/>
              </a:rPr>
              <a:t>备查页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682496"/>
          <a:ext cx="6812279" cy="38039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4912"/>
                <a:gridCol w="1527602"/>
                <a:gridCol w="1197309"/>
                <a:gridCol w="1362456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候选</a:t>
                      </a:r>
                    </a:p>
                  </a:txBody>
                  <a:tcPr marL="64008" marR="45720" marT="27432" marB="18288" anchor="ctr">
                    <a:solidFill>
                      <a:srgbClr val="0B5F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用途</a:t>
                      </a:r>
                    </a:p>
                  </a:txBody>
                  <a:tcPr marL="64008" marR="45720" marT="27432" marB="18288" anchor="ctr">
                    <a:solidFill>
                      <a:srgbClr val="0B5F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公开性</a:t>
                      </a:r>
                    </a:p>
                  </a:txBody>
                  <a:tcPr marL="64008" marR="45720" marT="27432" marB="18288" anchor="ctr">
                    <a:solidFill>
                      <a:srgbClr val="0B5F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适用性</a:t>
                      </a:r>
                    </a:p>
                  </a:txBody>
                  <a:tcPr marL="64008" marR="45720" marT="27432" marB="18288" anchor="ctr">
                    <a:solidFill>
                      <a:srgbClr val="0B5F66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FATURA（10,000 / 50 版式）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发票字段抽取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✅ Zenodo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英文、合成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SROIE（1,000 收据）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票据字段抽取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✅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英文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费城 238,894 / 芝加哥 399,158 笔市政支付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类凭证异常检测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✅ 市政开放数据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最接近真实凭证流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ODDS（30 个数据集）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表格级异常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✅ 公开基准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非会计域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BPIC15/17、Sepsis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流程级异常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✅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流程日志非凭证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JET 规则基线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L0 对照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可自实现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CG-LGN 的 6 类注入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589520" y="1682496"/>
            <a:ext cx="4069080" cy="3611880"/>
          </a:xfrm>
          <a:prstGeom prst="rect">
            <a:avLst/>
          </a:prstGeom>
          <a:solidFill>
            <a:srgbClr val="F2F2EE"/>
          </a:solidFill>
          <a:ln w="12700">
            <a:solidFill>
              <a:srgbClr val="D5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0" y="1792224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B4862B"/>
                </a:solidFill>
                <a:latin typeface="微软雅黑"/>
                <a:ea typeface="微软雅黑"/>
                <a:cs typeface="微软雅黑"/>
              </a:rPr>
              <a:t>现实约束（必须写进开题）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57984"/>
            <a:ext cx="3749039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940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940" b="1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凭证级、带真实标签的数据集：0 个。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940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940" b="0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现有做法只有两条：人工注入（Kawazura 4 类）或合成（CG-LGN 6 类）。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940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940" b="0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公开数据能撑起“抽取”实验，撑不起“真实舞弊”。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940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940" b="0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所以：真实标注只能自建，且必须交代标注协议与一致性。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940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940" b="0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注意：公开集多为英文，中文票种仍要自己造。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623560"/>
            <a:ext cx="6812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19" b="0">
                <a:solidFill>
                  <a:srgbClr val="5C6B73"/>
                </a:solidFill>
                <a:latin typeface="微软雅黑"/>
                <a:ea typeface="微软雅黑"/>
                <a:cs typeface="微软雅黑"/>
              </a:rPr>
              <a:t>使用建议：抽取层用 FATURA / SROIE 做“能不能抽对”；检测层用市政支付数据做“能不能排在前 100 条”。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D5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66928" y="6455664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850" b="0">
                <a:solidFill>
                  <a:srgbClr val="5C6B73"/>
                </a:solidFill>
                <a:latin typeface="微软雅黑"/>
                <a:ea typeface="微软雅黑"/>
                <a:cs typeface="微软雅黑"/>
              </a:rPr>
              <a:t>证据：仅本库 51 篇 PDF 原文；数字均回原文核对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61320" y="6455664"/>
            <a:ext cx="10698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900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判定标准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400" b="1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什么算合格，哪些坑必须避开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22960" cy="41148"/>
          </a:xfrm>
          <a:prstGeom prst="rect">
            <a:avLst/>
          </a:prstGeom>
          <a:solidFill>
            <a:srgbClr val="B4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C6B73"/>
                </a:solidFill>
                <a:latin typeface="微软雅黑"/>
                <a:ea typeface="微软雅黑"/>
                <a:cs typeface="微软雅黑"/>
              </a:rPr>
              <a:t>这张表可以直接当组内 review checklist 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0" y="329184"/>
            <a:ext cx="877824" cy="237744"/>
          </a:xfrm>
          <a:prstGeom prst="rect">
            <a:avLst/>
          </a:prstGeom>
          <a:solidFill>
            <a:srgbClr val="ECE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515600" y="374904"/>
            <a:ext cx="877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750" b="0">
                <a:solidFill>
                  <a:srgbClr val="5C6B73"/>
                </a:solidFill>
                <a:latin typeface="微软雅黑"/>
                <a:ea typeface="微软雅黑"/>
                <a:cs typeface="微软雅黑"/>
              </a:rPr>
              <a:t>备查页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00784"/>
            <a:ext cx="512064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86384" y="1810512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✅ 合格的五条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94560"/>
            <a:ext cx="466344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019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019" b="0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能说清“在什么条件下有效/失效”，且失效条件来自原文。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019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019" b="0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每个缺口都指向一个数字或一句原文，而不是感觉。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019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019" b="0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标注证据档位：表格 ＞ 正文 ＞ 摘要。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019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019" b="0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数字带口径与条件：up to / n= / on synthetic / not accounting for。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019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▪ </a:t>
            </a:r>
            <a:r>
              <a:rPr sz="1019" b="0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能复现才叫基线：数据公开 + 超参 + 协议。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989320" y="1737360"/>
          <a:ext cx="5669280" cy="37124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31720"/>
                <a:gridCol w="3337560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坑</a:t>
                      </a:r>
                    </a:p>
                  </a:txBody>
                  <a:tcPr marL="64008" marR="45720" marT="27432" marB="18288" anchor="ctr">
                    <a:solidFill>
                      <a:srgbClr val="B03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活标本</a:t>
                      </a:r>
                    </a:p>
                  </a:txBody>
                  <a:tcPr marL="64008" marR="45720" marT="27432" marB="18288" anchor="ctr">
                    <a:solidFill>
                      <a:srgbClr val="B03A2E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把模型生成的解释当来源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多智能体市场核查：自查自证、无指标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论文结果当产品宣传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凭证 LVM：500 张、无真值协议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只读摘要不读原文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S1 摘要“97%”，表 1 是 55+42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accuracy 当主指标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57 类发票：Acc 0.99 / F1 0.72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文件名不核对内容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“MALL”实为 436 页会议论文集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同形异义混入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云存储“数据审计”×2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重复版本当两篇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多模态异常综述出现 2 次</a:t>
                      </a:r>
                    </a:p>
                  </a:txBody>
                  <a:tcPr marL="64008" marR="45720" marT="27432" marB="1828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1">
                          <a:solidFill>
                            <a:srgbClr val="1B24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跨论文横比指标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>
                          <a:solidFill>
                            <a:srgbClr val="333D4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mAP / F1 / nDCG3 / AUROC 混用</a:t>
                      </a:r>
                    </a:p>
                  </a:txBody>
                  <a:tcPr marL="64008" marR="45720" marT="27432" marB="18288" anchor="ctr">
                    <a:solidFill>
                      <a:srgbClr val="F6F8F8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66928" y="5614416"/>
            <a:ext cx="11064240" cy="548640"/>
          </a:xfrm>
          <a:prstGeom prst="rect">
            <a:avLst/>
          </a:prstGeom>
          <a:solidFill>
            <a:srgbClr val="E6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5678424"/>
            <a:ext cx="107899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一句话：一张表能不能被别人按同样条件复现，是“合格”与“故事”的分界线。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D5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66928" y="6455664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850" b="0">
                <a:solidFill>
                  <a:srgbClr val="5C6B73"/>
                </a:solidFill>
                <a:latin typeface="微软雅黑"/>
                <a:ea typeface="微软雅黑"/>
                <a:cs typeface="微软雅黑"/>
              </a:rPr>
              <a:t>证据：仅本库 51 篇 PDF 原文；数字均回原文核对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61320" y="6455664"/>
            <a:ext cx="10698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900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4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98755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9FC4C6"/>
                </a:solidFill>
                <a:latin typeface="微软雅黑"/>
                <a:ea typeface="微软雅黑"/>
                <a:cs typeface="微软雅黑"/>
              </a:rPr>
              <a:t>结论与下一步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把“用了大模型”写成“把大模型放在正确的位置”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240280"/>
            <a:ext cx="10241280" cy="868680"/>
          </a:xfrm>
          <a:prstGeom prst="rect">
            <a:avLst/>
          </a:prstGeom>
          <a:solidFill>
            <a:srgbClr val="114247"/>
          </a:solidFill>
          <a:ln w="12700">
            <a:solidFill>
              <a:srgbClr val="1E5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115568" y="2459736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1">
                <a:solidFill>
                  <a:srgbClr val="B4862B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0784" y="2368296"/>
            <a:ext cx="2743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定题收口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00784" y="2679192"/>
            <a:ext cx="9235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80" b="0">
                <a:solidFill>
                  <a:srgbClr val="C5D8DA"/>
                </a:solidFill>
                <a:latin typeface="微软雅黑"/>
                <a:ea typeface="微软雅黑"/>
                <a:cs typeface="微软雅黑"/>
              </a:rPr>
              <a:t>从九个缺口里挑 3 条写进开题；优先 G1（端到端指标）+ G2（跨单据链）+ G4（主键传播）。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227832"/>
            <a:ext cx="10241280" cy="868680"/>
          </a:xfrm>
          <a:prstGeom prst="rect">
            <a:avLst/>
          </a:prstGeom>
          <a:solidFill>
            <a:srgbClr val="114247"/>
          </a:solidFill>
          <a:ln w="12700">
            <a:solidFill>
              <a:srgbClr val="1E5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15568" y="3447288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1">
                <a:solidFill>
                  <a:srgbClr val="B4862B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0784" y="3355848"/>
            <a:ext cx="2743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搭 L0–L2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0784" y="3666744"/>
            <a:ext cx="9235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80" b="0">
                <a:solidFill>
                  <a:srgbClr val="C5D8DA"/>
                </a:solidFill>
                <a:latin typeface="微软雅黑"/>
                <a:ea typeface="微软雅黑"/>
                <a:cs typeface="微软雅黑"/>
              </a:rPr>
              <a:t>先跑规则基线与传统 ML，再上 LLM 抽取；L3 解释最后加。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215384"/>
            <a:ext cx="10241280" cy="868680"/>
          </a:xfrm>
          <a:prstGeom prst="rect">
            <a:avLst/>
          </a:prstGeom>
          <a:solidFill>
            <a:srgbClr val="114247"/>
          </a:solidFill>
          <a:ln w="12700">
            <a:solidFill>
              <a:srgbClr val="1E5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15568" y="443484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1">
                <a:solidFill>
                  <a:srgbClr val="B4862B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0784" y="4343400"/>
            <a:ext cx="2743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自建标注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4654296"/>
            <a:ext cx="9235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80" b="0">
                <a:solidFill>
                  <a:srgbClr val="C5D8DA"/>
                </a:solidFill>
                <a:latin typeface="微软雅黑"/>
                <a:ea typeface="微软雅黑"/>
                <a:cs typeface="微软雅黑"/>
              </a:rPr>
              <a:t>真实凭证标注只能自建：写清几人、几轮、一致性指标。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5202936"/>
            <a:ext cx="10241280" cy="868680"/>
          </a:xfrm>
          <a:prstGeom prst="rect">
            <a:avLst/>
          </a:prstGeom>
          <a:solidFill>
            <a:srgbClr val="114247"/>
          </a:solidFill>
          <a:ln w="12700">
            <a:solidFill>
              <a:srgbClr val="1E5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15568" y="5422392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1">
                <a:solidFill>
                  <a:srgbClr val="B4862B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00784" y="5330952"/>
            <a:ext cx="2743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对照实验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0784" y="5641848"/>
            <a:ext cx="9235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80" b="0">
                <a:solidFill>
                  <a:srgbClr val="C5D8DA"/>
                </a:solidFill>
                <a:latin typeface="微软雅黑"/>
                <a:ea typeface="微软雅黑"/>
                <a:cs typeface="微软雅黑"/>
              </a:rPr>
              <a:t>四层 × 七个消融，合成与真实两栏分报。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17220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00" b="0">
                <a:solidFill>
                  <a:srgbClr val="8FADAF"/>
                </a:solidFill>
                <a:latin typeface="微软雅黑"/>
                <a:ea typeface="微软雅黑"/>
                <a:cs typeface="微软雅黑"/>
              </a:rPr>
              <a:t>边界：以上全部来自本地 51 篇 PDF；语料未涉及的（如更广的研究现状、真实企业效果、产品能力），本报告不回答。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交付承诺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400" b="1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下周只做三件事，每件都有可验收的产物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22960" cy="41148"/>
          </a:xfrm>
          <a:prstGeom prst="rect">
            <a:avLst/>
          </a:prstGeom>
          <a:solidFill>
            <a:srgbClr val="B4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C6B73"/>
                </a:solidFill>
                <a:latin typeface="微软雅黑"/>
                <a:ea typeface="微软雅黑"/>
                <a:cs typeface="微软雅黑"/>
              </a:rPr>
              <a:t>组会结束时把这张表念一遍：有承诺的汇报，不会被追着问“这周怎么没做完”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37360"/>
            <a:ext cx="35661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737360"/>
            <a:ext cx="3566160" cy="54864"/>
          </a:xfrm>
          <a:prstGeom prst="rect">
            <a:avLst/>
          </a:prstGeom>
          <a:solidFill>
            <a:srgbClr val="0B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8096" y="1883664"/>
            <a:ext cx="3108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00" b="1">
                <a:solidFill>
                  <a:srgbClr val="5C6B73"/>
                </a:solidFill>
                <a:latin typeface="微软雅黑"/>
                <a:ea typeface="微软雅黑"/>
                <a:cs typeface="微软雅黑"/>
              </a:rPr>
              <a:t>W1 · 第 2 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15798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1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补检索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651760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960" b="0">
                <a:solidFill>
                  <a:srgbClr val="3A454C"/>
                </a:solidFill>
                <a:latin typeface="微软雅黑"/>
                <a:ea typeface="微软雅黑"/>
                <a:cs typeface="微软雅黑"/>
              </a:rPr>
              <a:t>用系统检索式复查 6 条词，目标 30 篇；输出检索日志 + 新增对照行。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3529584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860" b="0">
                <a:solidFill>
                  <a:srgbClr val="5C6B73"/>
                </a:solidFill>
                <a:latin typeface="微软雅黑"/>
                <a:ea typeface="微软雅黑"/>
                <a:cs typeface="微软雅黑"/>
              </a:rPr>
              <a:t>依赖：检索式 + 校园网数据库权限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4041648"/>
            <a:ext cx="3108960" cy="9144"/>
          </a:xfrm>
          <a:prstGeom prst="rect">
            <a:avLst/>
          </a:prstGeom>
          <a:solidFill>
            <a:srgbClr val="D5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68096" y="4160520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验收：能坐实或证伪三个“0 篇”中的至少一个。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52544" y="1737360"/>
            <a:ext cx="35661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352544" y="1737360"/>
            <a:ext cx="3566160" cy="54864"/>
          </a:xfrm>
          <a:prstGeom prst="rect">
            <a:avLst/>
          </a:prstGeom>
          <a:solidFill>
            <a:srgbClr val="B4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53712" y="1883664"/>
            <a:ext cx="3108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00" b="1">
                <a:solidFill>
                  <a:srgbClr val="5C6B73"/>
                </a:solidFill>
                <a:latin typeface="微软雅黑"/>
                <a:ea typeface="微软雅黑"/>
                <a:cs typeface="微软雅黑"/>
              </a:rPr>
              <a:t>W2 · 第 2 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215798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1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跑基线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651760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960" b="0">
                <a:solidFill>
                  <a:srgbClr val="3A454C"/>
                </a:solidFill>
                <a:latin typeface="微软雅黑"/>
                <a:ea typeface="微软雅黑"/>
                <a:cs typeface="微软雅黑"/>
              </a:rPr>
              <a:t>在公开数据上跑通 L0 规则 + L1（AE / IF），统一指标口径。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3529584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860" b="0">
                <a:solidFill>
                  <a:srgbClr val="5C6B73"/>
                </a:solidFill>
                <a:latin typeface="微软雅黑"/>
                <a:ea typeface="微软雅黑"/>
                <a:cs typeface="微软雅黑"/>
              </a:rPr>
              <a:t>依赖：FATURA / SROIE / 市政支付数据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53712" y="4041648"/>
            <a:ext cx="3108960" cy="9144"/>
          </a:xfrm>
          <a:prstGeom prst="rect">
            <a:avLst/>
          </a:prstGeom>
          <a:solidFill>
            <a:srgbClr val="D5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553712" y="4160520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1">
                <a:solidFill>
                  <a:srgbClr val="B4862B"/>
                </a:solidFill>
                <a:latin typeface="微软雅黑"/>
                <a:ea typeface="微软雅黑"/>
                <a:cs typeface="微软雅黑"/>
              </a:rPr>
              <a:t>验收：TP/TN/FP/FN + FP/千条 一张表，脚本可复现。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59" y="1737360"/>
            <a:ext cx="35661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8138159" y="1737360"/>
            <a:ext cx="3566160" cy="548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339327" y="1883664"/>
            <a:ext cx="3108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00" b="1">
                <a:solidFill>
                  <a:srgbClr val="5C6B73"/>
                </a:solidFill>
                <a:latin typeface="微软雅黑"/>
                <a:ea typeface="微软雅黑"/>
                <a:cs typeface="微软雅黑"/>
              </a:rPr>
              <a:t>W3 · 第 3 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7" y="215798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1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定标注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7" y="2651760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960" b="0">
                <a:solidFill>
                  <a:srgbClr val="3A454C"/>
                </a:solidFill>
                <a:latin typeface="微软雅黑"/>
                <a:ea typeface="微软雅黑"/>
                <a:cs typeface="微软雅黑"/>
              </a:rPr>
              <a:t>设计凭证标注协议：几人、几轮、一致性怎么算；先试标 100 条。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7" y="3529584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860" b="0">
                <a:solidFill>
                  <a:srgbClr val="5C6B73"/>
                </a:solidFill>
                <a:latin typeface="微软雅黑"/>
                <a:ea typeface="微软雅黑"/>
                <a:cs typeface="微软雅黑"/>
              </a:rPr>
              <a:t>依赖：2 名标注员 + 1 名仲裁人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39327" y="4041648"/>
            <a:ext cx="3108960" cy="9144"/>
          </a:xfrm>
          <a:prstGeom prst="rect">
            <a:avLst/>
          </a:prstGeom>
          <a:solidFill>
            <a:srgbClr val="D5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339327" y="4160520"/>
            <a:ext cx="3154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验收：标注手册 + ICC 报告（目标 ≥ 0.6）。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5349240"/>
            <a:ext cx="11064240" cy="822960"/>
          </a:xfrm>
          <a:prstGeom prst="rect">
            <a:avLst/>
          </a:prstGeom>
          <a:solidFill>
            <a:srgbClr val="E6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49808" y="544068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给老师的一句话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5705856"/>
            <a:ext cx="106984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1B242B"/>
                </a:solidFill>
                <a:latin typeface="微软雅黑"/>
                <a:ea typeface="微软雅黑"/>
                <a:cs typeface="微软雅黑"/>
              </a:rPr>
              <a:t>“这周我们把六个问题答到能答的程度，并标出答不了的部分；下周把‘不知道’换成‘查过了，还是没有’。”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6382512"/>
            <a:ext cx="11064240" cy="9144"/>
          </a:xfrm>
          <a:prstGeom prst="rect">
            <a:avLst/>
          </a:prstGeom>
          <a:solidFill>
            <a:srgbClr val="D5D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66928" y="6455664"/>
            <a:ext cx="8778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850" b="0">
                <a:solidFill>
                  <a:srgbClr val="5C6B73"/>
                </a:solidFill>
                <a:latin typeface="微软雅黑"/>
                <a:ea typeface="微软雅黑"/>
                <a:cs typeface="微软雅黑"/>
              </a:rPr>
              <a:t>证据：仅本库 51 篇 PDF 原文；数字均回原文核对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61320" y="6455664"/>
            <a:ext cx="10698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900" b="1">
                <a:solidFill>
                  <a:srgbClr val="0B5F66"/>
                </a:solidFill>
                <a:latin typeface="微软雅黑"/>
                <a:ea typeface="微软雅黑"/>
                <a:cs typeface="微软雅黑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